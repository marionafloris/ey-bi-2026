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webextensions/webextension1.xml" ContentType="application/vnd.ms-office.webextension+xml"/>
  <Override PartName="/ppt/notesSlides/notesSlide12.xml" ContentType="application/vnd.openxmlformats-officedocument.presentationml.notesSlide+xml"/>
  <Override PartName="/ppt/webextensions/webextension2.xml" ContentType="application/vnd.ms-office.webextension+xml"/>
  <Override PartName="/ppt/notesSlides/notesSlide13.xml" ContentType="application/vnd.openxmlformats-officedocument.presentationml.notesSlide+xml"/>
  <Override PartName="/ppt/webextensions/webextension3.xml" ContentType="application/vnd.ms-office.webextension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3" r:id="rId2"/>
    <p:sldId id="257" r:id="rId3"/>
    <p:sldId id="274" r:id="rId4"/>
    <p:sldId id="271" r:id="rId5"/>
    <p:sldId id="269" r:id="rId6"/>
    <p:sldId id="280" r:id="rId7"/>
    <p:sldId id="284" r:id="rId8"/>
    <p:sldId id="282" r:id="rId9"/>
    <p:sldId id="283" r:id="rId10"/>
    <p:sldId id="270" r:id="rId11"/>
    <p:sldId id="276" r:id="rId12"/>
    <p:sldId id="277" r:id="rId13"/>
    <p:sldId id="278" r:id="rId14"/>
    <p:sldId id="275" r:id="rId15"/>
    <p:sldId id="281" r:id="rId16"/>
  </p:sldIdLst>
  <p:sldSz cx="9144000" cy="5143500" type="screen16x9"/>
  <p:notesSz cx="5143500" cy="9144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00"/>
    <a:srgbClr val="7474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31" dt="2026-10-05T20:11:30.874"/>
    <p1510:client id="{001BA017-BC25-47AE-A292-7C05893C18BE}" v="700" dt="2026-10-05T16:16:58.078"/>
    <p1510:client id="{21F5256F-C9AB-4A8E-A424-520A202F4799}" v="47" dt="2026-10-05T16:17:43.821"/>
    <p1510:client id="{A3DBCEA4-733B-4348-9DDE-066B73EAB8E6}" v="348" dt="2026-10-06T11:24:28.945"/>
    <p1510:client id="{C88D77C4-12E1-81FA-1562-326D426A5575}" v="149" dt="2026-10-05T15:58:59.956"/>
    <p1510:client id="{D956BB61-ECE1-4A72-8F1D-F95C3539B268}" v="2" dt="2026-10-05T15:38:06.630"/>
    <p1510:client id="{F8A77988-CE21-43B0-82D8-46288482D0C2}" v="62" dt="2026-10-05T15:22:33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España</c:v>
                </c:pt>
              </c:strCache>
            </c:strRef>
          </c:tx>
          <c:spPr>
            <a:solidFill>
              <a:srgbClr val="FFE6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Soporte al usuario</c:v>
                </c:pt>
                <c:pt idx="1">
                  <c:v>Disponibilidad online</c:v>
                </c:pt>
                <c:pt idx="2">
                  <c:v>Adaptación a móviles</c:v>
                </c:pt>
                <c:pt idx="3">
                  <c:v>Puntuación general</c:v>
                </c:pt>
                <c:pt idx="4">
                  <c:v>Transparencia del servicio</c:v>
                </c:pt>
                <c:pt idx="5">
                  <c:v>Accesibilidad básica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98.54</c:v>
                </c:pt>
                <c:pt idx="2">
                  <c:v>93.06</c:v>
                </c:pt>
                <c:pt idx="3">
                  <c:v>79.13</c:v>
                </c:pt>
                <c:pt idx="4">
                  <c:v>61.43</c:v>
                </c:pt>
                <c:pt idx="5">
                  <c:v>53.8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B-4713-8912-261BCDE23C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UE-27</c:v>
                </c:pt>
              </c:strCache>
            </c:strRef>
          </c:tx>
          <c:spPr>
            <a:solidFill>
              <a:srgbClr val="C4C4C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Soporte al usuario</c:v>
                </c:pt>
                <c:pt idx="1">
                  <c:v>Disponibilidad online</c:v>
                </c:pt>
                <c:pt idx="2">
                  <c:v>Adaptación a móviles</c:v>
                </c:pt>
                <c:pt idx="3">
                  <c:v>Puntuación general</c:v>
                </c:pt>
                <c:pt idx="4">
                  <c:v>Transparencia del servicio</c:v>
                </c:pt>
                <c:pt idx="5">
                  <c:v>Accesibilidad básica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96.71</c:v>
                </c:pt>
                <c:pt idx="1">
                  <c:v>94.54</c:v>
                </c:pt>
                <c:pt idx="2">
                  <c:v>96.13</c:v>
                </c:pt>
                <c:pt idx="3">
                  <c:v>74.709999999999994</c:v>
                </c:pt>
                <c:pt idx="4">
                  <c:v>59.66</c:v>
                </c:pt>
                <c:pt idx="5">
                  <c:v>47.48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2B-4713-8912-261BCDE23C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2E38"/>
                </a:solidFill>
                <a:latin typeface="EYInterstate" panose="02000503020000020004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204678362573097E-2"/>
          <c:y val="0.14642973407393844"/>
          <c:w val="0.91959064327485385"/>
          <c:h val="0.640004374453193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Competencias</c:v>
                </c:pt>
              </c:strCache>
            </c:strRef>
          </c:tx>
          <c:spPr>
            <a:solidFill>
              <a:srgbClr val="FFE6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16–24</c:v>
                </c:pt>
                <c:pt idx="1">
                  <c:v>25–54</c:v>
                </c:pt>
                <c:pt idx="2">
                  <c:v>55–74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74.599999999999994</c:v>
                </c:pt>
                <c:pt idx="1">
                  <c:v>68.8</c:v>
                </c:pt>
                <c:pt idx="2">
                  <c:v>42.8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A0-4676-BA4A-21535BBA80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Uso</c:v>
                </c:pt>
              </c:strCache>
            </c:strRef>
          </c:tx>
          <c:spPr>
            <a:solidFill>
              <a:srgbClr val="C4C4C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16–24</c:v>
                </c:pt>
                <c:pt idx="1">
                  <c:v>25–54</c:v>
                </c:pt>
                <c:pt idx="2">
                  <c:v>55–74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52</c:v>
                </c:pt>
                <c:pt idx="1">
                  <c:v>64.5</c:v>
                </c:pt>
                <c:pt idx="2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A0-4676-BA4A-21535BBA80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E2E38"/>
                </a:solidFill>
                <a:latin typeface="EYInterstate" panose="02000503020000020004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430C1-4D74-46CA-BCB2-8BDDEC0C1C1C}" type="datetimeFigureOut">
              <a:t>07/10/2026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D8B9E-265F-4659-94A5-DDA65A1103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3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BCAD-288A-7E5C-0368-126F92C2A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A05C6-4A9E-595A-34F2-A45DE5D8C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656D5-EDF1-3F7A-48D8-22B83847B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ABD7A-3AF7-4692-E9C1-0270EBE3D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7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900F4-45F0-1D6E-B303-EB73A710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618678-6277-E2EA-758A-9D5C9F162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2E678-413A-DA5F-A0A1-133300A27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FFC14-8831-749C-C7F7-7FBDE6E8CF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39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FF0DC-D4E1-4915-A4C6-DD7BCD22C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39773-2F05-AFB8-16A5-3FEE56021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E7FC1-9467-A72F-7398-ACAA2192A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1AFFA-AFFA-ABBE-0E25-3274E0496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53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DF63-F9EB-FA14-2CAC-4CC400A3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AC68D-946D-0599-CB8E-88186803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97484-65F6-0697-E6C2-DA99667B0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345AD-B8AD-E52E-6881-458DE9489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44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5462B-621D-3C04-C0A2-D727BC8E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AD2A1-28F8-31B9-D6A7-1ED8E5B38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597B5-F110-BC89-D4E7-E5A72545F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D5D31-4414-72E3-687F-8F77850C1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0126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DF63-F9EB-FA14-2CAC-4CC400A3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AC68D-946D-0599-CB8E-88186803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97484-65F6-0697-E6C2-DA99667B0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Cruzamos tres fuentes oficiales de 2025 para los 27 países UE. Oferta: la calidad de las plataformas, del eGovernment Benchmark. Demanda: las competencias digitales de la población, de Eurostat. Y el resultado: qué % de la población usa la Administración online. Con eso respondemos tres preguntas.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345AD-B8AD-E52E-6881-458DE9489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44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DF63-F9EB-FA14-2CAC-4CC400A3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AC68D-946D-0599-CB8E-88186803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97484-65F6-0697-E6C2-DA99667B0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Cruzamos tres fuentes oficiales de 2025 para los 27 países UE. Oferta: la calidad de las plataformas, del eGovernment Benchmark. Demanda: las competencias digitales de la población, de Eurostat. Y el resultado: qué % de la población usa la Administración online. Con eso respondemos tres preguntas.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345AD-B8AD-E52E-6881-458DE9489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44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63A68-3C1D-614B-996A-970216A11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48195-0667-4823-4677-2399DF96A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40E0A-4FD6-03DC-BEF5-554BEF951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95F20-F50B-FB5B-C6A8-151FAB0428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72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A20C9-E6FB-F6E1-6C16-28B0E41B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27964-881E-5D63-5572-1DE7BE234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3D51D-B7B8-DA8A-D86D-317A9567A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251A8-064C-404C-43E7-37D0218772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29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9F271-898B-C330-B3E1-2F67D888B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D41F0-877D-8A26-CB46-E7D721F8A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33B84-389D-1C1D-BE64-F7D68237E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48A96-372D-43B5-94F0-DD50781265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93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5C0F-837D-FF7A-7B2D-94EEDBB2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D8F8F-91AE-765C-BCFC-DA1B7E4D5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2BCDA-4F06-5F11-8679-0F98AA357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93291-3C56-9601-4532-E700602A73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263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A59CF-2CC2-5203-ED43-4B86D5ABD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FA99B-6C0B-B4AA-F92C-B40FAF665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CF3C5-162C-16D6-05FC-0C5C3A5C4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0FDCA-B8A7-6FF5-8C40-F3C40F8704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3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cell data - do not delete" hidden="1">
            <a:extLst>
              <a:ext uri="{FF2B5EF4-FFF2-40B4-BE49-F238E27FC236}">
                <a16:creationId xmlns:a16="http://schemas.microsoft.com/office/drawing/2014/main" id="{09074509-1B6A-2E45-961F-315DC9D696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244734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404" imgH="405" progId="TCLayout.ActiveDocument.1">
                  <p:embed/>
                </p:oleObj>
              </mc:Choice>
              <mc:Fallback>
                <p:oleObj name="thinkcell Slide" r:id="rId4" imgW="404" imgH="405" progId="TCLayout.ActiveDocument.1">
                  <p:embed/>
                  <p:pic>
                    <p:nvPicPr>
                      <p:cNvPr id="2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09074509-1B6A-2E45-961F-315DC9D696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96596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¿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De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qué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depende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el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uso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de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la Administración D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igital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: las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plataformas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o las personas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?</a:t>
            </a:r>
            <a:endParaRPr lang="es-ES" sz="2000">
              <a:latin typeface="EYInterstate" panose="02000503020000020004" pitchFamily="2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91840"/>
            <a:ext cx="3931920" cy="34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 de las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básicas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población y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Administración online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UE (2025)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" y="384891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Administraci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ón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Digital 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Europa | </a:t>
            </a: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Octubre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2026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pic>
        <p:nvPicPr>
          <p:cNvPr id="5" name="Picture 4" descr="Unitree Robotics | Quadruped robots | Invelon Technologies">
            <a:extLst>
              <a:ext uri="{FF2B5EF4-FFF2-40B4-BE49-F238E27FC236}">
                <a16:creationId xmlns:a16="http://schemas.microsoft.com/office/drawing/2014/main" id="{76D7DA8E-8D71-FF4C-6F7B-146E2D430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33" y="4660469"/>
            <a:ext cx="1112062" cy="2668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AGENDA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9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>
              <a:latin typeface="EYInterstate" panose="0200050302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  2</a:t>
            </a:r>
            <a:endParaRPr lang="en-US" sz="800">
              <a:latin typeface="EYInterstate" panose="02000503020000020004" pitchFamily="2" charset="0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E9523E3-0748-D846-2935-F332055FB545}"/>
              </a:ext>
            </a:extLst>
          </p:cNvPr>
          <p:cNvGrpSpPr/>
          <p:nvPr/>
        </p:nvGrpSpPr>
        <p:grpSpPr>
          <a:xfrm>
            <a:off x="457200" y="1017238"/>
            <a:ext cx="8229600" cy="460519"/>
            <a:chOff x="457200" y="1101543"/>
            <a:chExt cx="6047362" cy="460519"/>
          </a:xfrm>
        </p:grpSpPr>
        <p:sp>
          <p:nvSpPr>
            <p:cNvPr id="45" name="Shape 5">
              <a:extLst>
                <a:ext uri="{FF2B5EF4-FFF2-40B4-BE49-F238E27FC236}">
                  <a16:creationId xmlns:a16="http://schemas.microsoft.com/office/drawing/2014/main" id="{A6003EC7-B2DA-A130-A5B7-7762AB206DF1}"/>
                </a:ext>
              </a:extLst>
            </p:cNvPr>
            <p:cNvSpPr/>
            <p:nvPr/>
          </p:nvSpPr>
          <p:spPr>
            <a:xfrm>
              <a:off x="457200" y="1101543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47" name="Shape 6">
              <a:extLst>
                <a:ext uri="{FF2B5EF4-FFF2-40B4-BE49-F238E27FC236}">
                  <a16:creationId xmlns:a16="http://schemas.microsoft.com/office/drawing/2014/main" id="{9019A6DB-BDBA-357C-2647-4BC2F17062AE}"/>
                </a:ext>
              </a:extLst>
            </p:cNvPr>
            <p:cNvSpPr/>
            <p:nvPr/>
          </p:nvSpPr>
          <p:spPr>
            <a:xfrm>
              <a:off x="457200" y="1101543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49" name="Text 7">
              <a:extLst>
                <a:ext uri="{FF2B5EF4-FFF2-40B4-BE49-F238E27FC236}">
                  <a16:creationId xmlns:a16="http://schemas.microsoft.com/office/drawing/2014/main" id="{338CBB37-A402-BD87-7260-345D9A60978F}"/>
                </a:ext>
              </a:extLst>
            </p:cNvPr>
            <p:cNvSpPr/>
            <p:nvPr/>
          </p:nvSpPr>
          <p:spPr>
            <a:xfrm>
              <a:off x="457200" y="1101543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01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31B3EBE6-738A-4B60-FE31-A19DC1A94251}"/>
                </a:ext>
              </a:extLst>
            </p:cNvPr>
            <p:cNvSpPr/>
            <p:nvPr/>
          </p:nvSpPr>
          <p:spPr>
            <a:xfrm>
              <a:off x="1591080" y="1101543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anose="020B0604020202020204" pitchFamily="34" charset="0"/>
                </a:rPr>
                <a:t>Contexto</a:t>
              </a:r>
              <a:endParaRPr lang="en-US" sz="1300"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7E0A71E-71FA-EF6A-793A-6E0767B3C373}"/>
              </a:ext>
            </a:extLst>
          </p:cNvPr>
          <p:cNvGrpSpPr/>
          <p:nvPr/>
        </p:nvGrpSpPr>
        <p:grpSpPr>
          <a:xfrm>
            <a:off x="457200" y="1602315"/>
            <a:ext cx="8229600" cy="460519"/>
            <a:chOff x="457200" y="1644471"/>
            <a:chExt cx="6047362" cy="460519"/>
          </a:xfrm>
        </p:grpSpPr>
        <p:sp>
          <p:nvSpPr>
            <p:cNvPr id="53" name="Shape 9">
              <a:extLst>
                <a:ext uri="{FF2B5EF4-FFF2-40B4-BE49-F238E27FC236}">
                  <a16:creationId xmlns:a16="http://schemas.microsoft.com/office/drawing/2014/main" id="{3DBDE4FB-E27C-3EEB-9037-7EF877766A85}"/>
                </a:ext>
              </a:extLst>
            </p:cNvPr>
            <p:cNvSpPr/>
            <p:nvPr/>
          </p:nvSpPr>
          <p:spPr>
            <a:xfrm>
              <a:off x="457200" y="1644471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55" name="Shape 10">
              <a:extLst>
                <a:ext uri="{FF2B5EF4-FFF2-40B4-BE49-F238E27FC236}">
                  <a16:creationId xmlns:a16="http://schemas.microsoft.com/office/drawing/2014/main" id="{752168B4-38A7-0688-6945-661E3009BA30}"/>
                </a:ext>
              </a:extLst>
            </p:cNvPr>
            <p:cNvSpPr/>
            <p:nvPr/>
          </p:nvSpPr>
          <p:spPr>
            <a:xfrm>
              <a:off x="457200" y="1644471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57" name="Text 11">
              <a:extLst>
                <a:ext uri="{FF2B5EF4-FFF2-40B4-BE49-F238E27FC236}">
                  <a16:creationId xmlns:a16="http://schemas.microsoft.com/office/drawing/2014/main" id="{3EF0CADA-5121-930C-7784-92E334A9E94F}"/>
                </a:ext>
              </a:extLst>
            </p:cNvPr>
            <p:cNvSpPr/>
            <p:nvPr/>
          </p:nvSpPr>
          <p:spPr>
            <a:xfrm>
              <a:off x="457200" y="1644471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02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59" name="Text 12">
              <a:extLst>
                <a:ext uri="{FF2B5EF4-FFF2-40B4-BE49-F238E27FC236}">
                  <a16:creationId xmlns:a16="http://schemas.microsoft.com/office/drawing/2014/main" id="{0447522A-8EBD-DDD7-3676-823C73DE3D96}"/>
                </a:ext>
              </a:extLst>
            </p:cNvPr>
            <p:cNvSpPr/>
            <p:nvPr/>
          </p:nvSpPr>
          <p:spPr>
            <a:xfrm>
              <a:off x="1591080" y="1644471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P1 – Calidad de la Plataforma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DA65CF2-B31B-387B-84DE-0A00C84835ED}"/>
              </a:ext>
            </a:extLst>
          </p:cNvPr>
          <p:cNvGrpSpPr/>
          <p:nvPr/>
        </p:nvGrpSpPr>
        <p:grpSpPr>
          <a:xfrm>
            <a:off x="457200" y="2187392"/>
            <a:ext cx="8229600" cy="460519"/>
            <a:chOff x="457200" y="2187398"/>
            <a:chExt cx="6047362" cy="460519"/>
          </a:xfrm>
        </p:grpSpPr>
        <p:sp>
          <p:nvSpPr>
            <p:cNvPr id="61" name="Shape 13">
              <a:extLst>
                <a:ext uri="{FF2B5EF4-FFF2-40B4-BE49-F238E27FC236}">
                  <a16:creationId xmlns:a16="http://schemas.microsoft.com/office/drawing/2014/main" id="{913AD8D5-2AF5-F38B-190D-AA56DCC586B6}"/>
                </a:ext>
              </a:extLst>
            </p:cNvPr>
            <p:cNvSpPr/>
            <p:nvPr/>
          </p:nvSpPr>
          <p:spPr>
            <a:xfrm>
              <a:off x="457200" y="2187398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63" name="Shape 14">
              <a:extLst>
                <a:ext uri="{FF2B5EF4-FFF2-40B4-BE49-F238E27FC236}">
                  <a16:creationId xmlns:a16="http://schemas.microsoft.com/office/drawing/2014/main" id="{7AA0BC77-E6CB-EF54-A5FE-927E76C18641}"/>
                </a:ext>
              </a:extLst>
            </p:cNvPr>
            <p:cNvSpPr/>
            <p:nvPr/>
          </p:nvSpPr>
          <p:spPr>
            <a:xfrm>
              <a:off x="457200" y="2187398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65" name="Text 15">
              <a:extLst>
                <a:ext uri="{FF2B5EF4-FFF2-40B4-BE49-F238E27FC236}">
                  <a16:creationId xmlns:a16="http://schemas.microsoft.com/office/drawing/2014/main" id="{5D4C8447-3D93-143C-12DC-1A2C00C2F20E}"/>
                </a:ext>
              </a:extLst>
            </p:cNvPr>
            <p:cNvSpPr/>
            <p:nvPr/>
          </p:nvSpPr>
          <p:spPr>
            <a:xfrm>
              <a:off x="457200" y="2187398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03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67" name="Text 16">
              <a:extLst>
                <a:ext uri="{FF2B5EF4-FFF2-40B4-BE49-F238E27FC236}">
                  <a16:creationId xmlns:a16="http://schemas.microsoft.com/office/drawing/2014/main" id="{CCB1AD5F-D69C-4EA2-9E49-14CDF8B531F9}"/>
                </a:ext>
              </a:extLst>
            </p:cNvPr>
            <p:cNvSpPr/>
            <p:nvPr/>
          </p:nvSpPr>
          <p:spPr>
            <a:xfrm>
              <a:off x="1591080" y="2187398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P2 –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Competencia</a:t>
              </a:r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 y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uso</a:t>
              </a:r>
              <a:endParaRPr lang="en-US" sz="1300">
                <a:solidFill>
                  <a:srgbClr val="000000"/>
                </a:solidFill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1438D4D-F811-36CC-7B55-749C4F1A402D}"/>
              </a:ext>
            </a:extLst>
          </p:cNvPr>
          <p:cNvGrpSpPr/>
          <p:nvPr/>
        </p:nvGrpSpPr>
        <p:grpSpPr>
          <a:xfrm>
            <a:off x="457200" y="2772469"/>
            <a:ext cx="8229600" cy="460519"/>
            <a:chOff x="457200" y="2778948"/>
            <a:chExt cx="6047362" cy="460519"/>
          </a:xfrm>
        </p:grpSpPr>
        <p:sp>
          <p:nvSpPr>
            <p:cNvPr id="86" name="Shape 9">
              <a:extLst>
                <a:ext uri="{FF2B5EF4-FFF2-40B4-BE49-F238E27FC236}">
                  <a16:creationId xmlns:a16="http://schemas.microsoft.com/office/drawing/2014/main" id="{F6CFA635-B6F7-D368-8CCC-830D5D50E6D1}"/>
                </a:ext>
              </a:extLst>
            </p:cNvPr>
            <p:cNvSpPr/>
            <p:nvPr/>
          </p:nvSpPr>
          <p:spPr>
            <a:xfrm>
              <a:off x="457200" y="2778948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88" name="Shape 10">
              <a:extLst>
                <a:ext uri="{FF2B5EF4-FFF2-40B4-BE49-F238E27FC236}">
                  <a16:creationId xmlns:a16="http://schemas.microsoft.com/office/drawing/2014/main" id="{EC29C6CE-18D9-1C6D-1422-330DB800601C}"/>
                </a:ext>
              </a:extLst>
            </p:cNvPr>
            <p:cNvSpPr/>
            <p:nvPr/>
          </p:nvSpPr>
          <p:spPr>
            <a:xfrm>
              <a:off x="457200" y="2778948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90" name="Text 11">
              <a:extLst>
                <a:ext uri="{FF2B5EF4-FFF2-40B4-BE49-F238E27FC236}">
                  <a16:creationId xmlns:a16="http://schemas.microsoft.com/office/drawing/2014/main" id="{AFD797EC-52C5-3182-8D2F-6D003808414C}"/>
                </a:ext>
              </a:extLst>
            </p:cNvPr>
            <p:cNvSpPr/>
            <p:nvPr/>
          </p:nvSpPr>
          <p:spPr>
            <a:xfrm>
              <a:off x="457200" y="2778948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cs typeface="Arial" pitchFamily="34" charset="-120"/>
                </a:rPr>
                <a:t>04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92" name="Text 12">
              <a:extLst>
                <a:ext uri="{FF2B5EF4-FFF2-40B4-BE49-F238E27FC236}">
                  <a16:creationId xmlns:a16="http://schemas.microsoft.com/office/drawing/2014/main" id="{A4CCD3E1-9559-24F5-F16B-B373F3F58F89}"/>
                </a:ext>
              </a:extLst>
            </p:cNvPr>
            <p:cNvSpPr/>
            <p:nvPr/>
          </p:nvSpPr>
          <p:spPr>
            <a:xfrm>
              <a:off x="1591080" y="2778948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P3 – Calidad y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uso</a:t>
              </a:r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 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F909885-3374-F0D0-D8BF-44F4E8F95F7A}"/>
              </a:ext>
            </a:extLst>
          </p:cNvPr>
          <p:cNvGrpSpPr/>
          <p:nvPr/>
        </p:nvGrpSpPr>
        <p:grpSpPr>
          <a:xfrm>
            <a:off x="457200" y="3357546"/>
            <a:ext cx="8229600" cy="460519"/>
            <a:chOff x="457200" y="3321875"/>
            <a:chExt cx="6047362" cy="460519"/>
          </a:xfrm>
        </p:grpSpPr>
        <p:sp>
          <p:nvSpPr>
            <p:cNvPr id="94" name="Shape 13">
              <a:extLst>
                <a:ext uri="{FF2B5EF4-FFF2-40B4-BE49-F238E27FC236}">
                  <a16:creationId xmlns:a16="http://schemas.microsoft.com/office/drawing/2014/main" id="{0BD5A30A-15BC-56A1-37DC-04731C699BA1}"/>
                </a:ext>
              </a:extLst>
            </p:cNvPr>
            <p:cNvSpPr/>
            <p:nvPr/>
          </p:nvSpPr>
          <p:spPr>
            <a:xfrm>
              <a:off x="457200" y="3321875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96" name="Shape 14">
              <a:extLst>
                <a:ext uri="{FF2B5EF4-FFF2-40B4-BE49-F238E27FC236}">
                  <a16:creationId xmlns:a16="http://schemas.microsoft.com/office/drawing/2014/main" id="{62DEC0E2-B264-5269-81C1-942ADD3E6645}"/>
                </a:ext>
              </a:extLst>
            </p:cNvPr>
            <p:cNvSpPr/>
            <p:nvPr/>
          </p:nvSpPr>
          <p:spPr>
            <a:xfrm>
              <a:off x="457200" y="3321875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98" name="Text 15">
              <a:extLst>
                <a:ext uri="{FF2B5EF4-FFF2-40B4-BE49-F238E27FC236}">
                  <a16:creationId xmlns:a16="http://schemas.microsoft.com/office/drawing/2014/main" id="{3AF7A5D6-9C34-D3C5-482C-1088F064D74D}"/>
                </a:ext>
              </a:extLst>
            </p:cNvPr>
            <p:cNvSpPr/>
            <p:nvPr/>
          </p:nvSpPr>
          <p:spPr>
            <a:xfrm>
              <a:off x="457200" y="3321875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cs typeface="Arial" pitchFamily="34" charset="-120"/>
                </a:rPr>
                <a:t>05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100" name="Text 16">
              <a:extLst>
                <a:ext uri="{FF2B5EF4-FFF2-40B4-BE49-F238E27FC236}">
                  <a16:creationId xmlns:a16="http://schemas.microsoft.com/office/drawing/2014/main" id="{15DB3DCE-5806-8EF4-9321-C54300BA655A}"/>
                </a:ext>
              </a:extLst>
            </p:cNvPr>
            <p:cNvSpPr/>
            <p:nvPr/>
          </p:nvSpPr>
          <p:spPr>
            <a:xfrm>
              <a:off x="1591080" y="3321875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Conclusiones</a:t>
              </a:r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 y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recomendaciones</a:t>
              </a:r>
              <a:endParaRPr lang="en-US" sz="1300">
                <a:solidFill>
                  <a:srgbClr val="000000"/>
                </a:solidFill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FCD0A98-336E-0755-6C44-4BEA97E7FDC8}"/>
              </a:ext>
            </a:extLst>
          </p:cNvPr>
          <p:cNvGrpSpPr/>
          <p:nvPr/>
        </p:nvGrpSpPr>
        <p:grpSpPr>
          <a:xfrm>
            <a:off x="457200" y="3942622"/>
            <a:ext cx="8229600" cy="460519"/>
            <a:chOff x="457200" y="3864802"/>
            <a:chExt cx="6047362" cy="460519"/>
          </a:xfrm>
        </p:grpSpPr>
        <p:sp>
          <p:nvSpPr>
            <p:cNvPr id="102" name="Shape 13">
              <a:extLst>
                <a:ext uri="{FF2B5EF4-FFF2-40B4-BE49-F238E27FC236}">
                  <a16:creationId xmlns:a16="http://schemas.microsoft.com/office/drawing/2014/main" id="{0E0425AD-C6B1-B0F7-A6E9-84C85563C29A}"/>
                </a:ext>
              </a:extLst>
            </p:cNvPr>
            <p:cNvSpPr/>
            <p:nvPr/>
          </p:nvSpPr>
          <p:spPr>
            <a:xfrm>
              <a:off x="457200" y="3864802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104" name="Shape 14">
              <a:extLst>
                <a:ext uri="{FF2B5EF4-FFF2-40B4-BE49-F238E27FC236}">
                  <a16:creationId xmlns:a16="http://schemas.microsoft.com/office/drawing/2014/main" id="{6F81D97B-453A-6A26-2163-7C45706EACC1}"/>
                </a:ext>
              </a:extLst>
            </p:cNvPr>
            <p:cNvSpPr/>
            <p:nvPr/>
          </p:nvSpPr>
          <p:spPr>
            <a:xfrm>
              <a:off x="457200" y="3864802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106" name="Text 15">
              <a:extLst>
                <a:ext uri="{FF2B5EF4-FFF2-40B4-BE49-F238E27FC236}">
                  <a16:creationId xmlns:a16="http://schemas.microsoft.com/office/drawing/2014/main" id="{F9485909-B1C1-9EE9-F647-DF1EAA1D929E}"/>
                </a:ext>
              </a:extLst>
            </p:cNvPr>
            <p:cNvSpPr/>
            <p:nvPr/>
          </p:nvSpPr>
          <p:spPr>
            <a:xfrm>
              <a:off x="457200" y="3864802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cs typeface="Arial" pitchFamily="34" charset="-120"/>
                </a:rPr>
                <a:t>06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108" name="Text 16">
              <a:extLst>
                <a:ext uri="{FF2B5EF4-FFF2-40B4-BE49-F238E27FC236}">
                  <a16:creationId xmlns:a16="http://schemas.microsoft.com/office/drawing/2014/main" id="{8833A7FA-80D6-53C6-96A4-413DA06FF99E}"/>
                </a:ext>
              </a:extLst>
            </p:cNvPr>
            <p:cNvSpPr/>
            <p:nvPr/>
          </p:nvSpPr>
          <p:spPr>
            <a:xfrm>
              <a:off x="1591080" y="3864802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anose="020B0604020202020204" pitchFamily="34" charset="0"/>
                </a:rPr>
                <a:t>Anexos</a:t>
              </a:r>
              <a:endParaRPr lang="en-US" sz="1300"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  <p:pic>
        <p:nvPicPr>
          <p:cNvPr id="8" name="Picture 7" descr="Unitree Robotics | Quadruped robots | Invelon Technologies">
            <a:extLst>
              <a:ext uri="{FF2B5EF4-FFF2-40B4-BE49-F238E27FC236}">
                <a16:creationId xmlns:a16="http://schemas.microsoft.com/office/drawing/2014/main" id="{9E661497-DB9E-2B93-CC22-064C770EB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198" y="4766052"/>
            <a:ext cx="809554" cy="194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84EB4-212C-D877-CE64-CFFD34DB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35D36F-41DB-4AD1-106F-0D4C59A86B3B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2A32B2-94F2-F023-A259-7CBDE32AE51D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021C4F-3690-6595-116F-412436BC3189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Analizamos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datos de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tres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fuentes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oficiales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: lo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que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ofrece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la Administración, lo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que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sabe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hacer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la población y lo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que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realmente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usa</a:t>
            </a:r>
            <a:endParaRPr lang="en-US" sz="2000">
              <a:solidFill>
                <a:srgbClr val="1A1A24"/>
              </a:solidFill>
              <a:latin typeface="EYInterstate"/>
              <a:cs typeface="Arial"/>
            </a:endParaRPr>
          </a:p>
          <a:p>
            <a:endParaRPr lang="en-US" sz="2000">
              <a:solidFill>
                <a:srgbClr val="1A1A24"/>
              </a:solidFill>
              <a:latin typeface="Arial"/>
              <a:cs typeface="Arial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A671DF2-C825-534C-0731-C1104F012466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59E1AB-B079-0DB5-62E0-17BB3452BF11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Fuentes: Comisión Europea, eGovernment Benchmark 2025; Eurostat isoc_sk_dskl_i21 e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isoc_ciegi_ac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2025. UE-27, población 16-74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años</a:t>
            </a:r>
            <a:endParaRPr lang="en-US" sz="700">
              <a:solidFill>
                <a:srgbClr val="747480"/>
              </a:solidFill>
              <a:latin typeface="EYInterstate" panose="02000503020000020004" pitchFamily="2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D6B4DE-0EA0-890E-C5C9-7ED31DBBC65B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</a:t>
            </a:r>
            <a:endParaRPr lang="en-US" sz="8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C85A0F7-5218-0549-E11C-1A4194D136FA}"/>
              </a:ext>
            </a:extLst>
          </p:cNvPr>
          <p:cNvSpPr/>
          <p:nvPr/>
        </p:nvSpPr>
        <p:spPr>
          <a:xfrm>
            <a:off x="457200" y="1463040"/>
            <a:ext cx="2606040" cy="1325880"/>
          </a:xfrm>
          <a:prstGeom prst="rect">
            <a:avLst/>
          </a:prstGeom>
          <a:solidFill>
            <a:srgbClr val="EDEDF2"/>
          </a:solidFill>
          <a:ln w="12700">
            <a:solidFill>
              <a:srgbClr val="EDED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07571BD-42C9-C071-FE0E-1409706F81CE}"/>
              </a:ext>
            </a:extLst>
          </p:cNvPr>
          <p:cNvSpPr/>
          <p:nvPr/>
        </p:nvSpPr>
        <p:spPr>
          <a:xfrm>
            <a:off x="64008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 de la </a:t>
            </a:r>
            <a:r>
              <a:rPr lang="en-US" sz="1400" b="1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1400">
              <a:latin typeface="EYInterstate" panose="02000503020000020004" pitchFamily="2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F651BCD-68CA-DD0F-7069-0848669C1D1F}"/>
              </a:ext>
            </a:extLst>
          </p:cNvPr>
          <p:cNvSpPr/>
          <p:nvPr/>
        </p:nvSpPr>
        <p:spPr>
          <a:xfrm>
            <a:off x="64008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eGovernment Benchmark  |  0-100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B4B9CFB-550F-2C73-20CC-829914157BE4}"/>
              </a:ext>
            </a:extLst>
          </p:cNvPr>
          <p:cNvSpPr/>
          <p:nvPr/>
        </p:nvSpPr>
        <p:spPr>
          <a:xfrm>
            <a:off x="3273552" y="1463040"/>
            <a:ext cx="2606040" cy="1325880"/>
          </a:xfrm>
          <a:prstGeom prst="rect">
            <a:avLst/>
          </a:prstGeom>
          <a:solidFill>
            <a:srgbClr val="EDEDF2"/>
          </a:solidFill>
          <a:ln w="12700">
            <a:solidFill>
              <a:srgbClr val="EDED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401222D-0665-071E-96EE-02C587C01938}"/>
              </a:ext>
            </a:extLst>
          </p:cNvPr>
          <p:cNvSpPr/>
          <p:nvPr/>
        </p:nvSpPr>
        <p:spPr>
          <a:xfrm>
            <a:off x="3456432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lang="en-US" sz="14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endParaRPr lang="en-US" sz="1400">
              <a:latin typeface="EYInterstate" panose="02000503020000020004" pitchFamily="2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A6EFEBD-7F59-AFB1-2917-C4E8B1877B9E}"/>
              </a:ext>
            </a:extLst>
          </p:cNvPr>
          <p:cNvSpPr/>
          <p:nvPr/>
        </p:nvSpPr>
        <p:spPr>
          <a:xfrm>
            <a:off x="3456432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· DSI 2.0  |  % población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DF7FC1B-BED2-6326-4FED-361EA4F1A3B0}"/>
              </a:ext>
            </a:extLst>
          </p:cNvPr>
          <p:cNvSpPr/>
          <p:nvPr/>
        </p:nvSpPr>
        <p:spPr>
          <a:xfrm>
            <a:off x="6089904" y="1463040"/>
            <a:ext cx="2606040" cy="1325880"/>
          </a:xfrm>
          <a:prstGeom prst="rect">
            <a:avLst/>
          </a:prstGeom>
          <a:solidFill>
            <a:srgbClr val="1A1A24"/>
          </a:solidFill>
          <a:ln w="12700">
            <a:solidFill>
              <a:srgbClr val="1A1A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8949143-C09C-6343-D61E-8B3F8C096551}"/>
              </a:ext>
            </a:extLst>
          </p:cNvPr>
          <p:cNvSpPr/>
          <p:nvPr/>
        </p:nvSpPr>
        <p:spPr>
          <a:xfrm>
            <a:off x="6272784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 de la Administración online</a:t>
            </a:r>
            <a:endParaRPr lang="en-US" sz="1400">
              <a:latin typeface="EYInterstate" panose="02000503020000020004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95918ED-D2E7-21A8-4989-C7A4286C8B82}"/>
              </a:ext>
            </a:extLst>
          </p:cNvPr>
          <p:cNvSpPr/>
          <p:nvPr/>
        </p:nvSpPr>
        <p:spPr>
          <a:xfrm>
            <a:off x="6272784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· I_IUGOV1  |  % población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23310E1-DB29-9928-241C-8ADE7F18E6C4}"/>
              </a:ext>
            </a:extLst>
          </p:cNvPr>
          <p:cNvSpPr/>
          <p:nvPr/>
        </p:nvSpPr>
        <p:spPr>
          <a:xfrm>
            <a:off x="45720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</a:t>
            </a:r>
            <a:endParaRPr lang="en-US" sz="2200" b="1">
              <a:latin typeface="EYInterstate" panose="02000503020000020004" pitchFamily="2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A062674-2AD0-8FBE-1B36-140F38D6A7E5}"/>
              </a:ext>
            </a:extLst>
          </p:cNvPr>
          <p:cNvSpPr/>
          <p:nvPr/>
        </p:nvSpPr>
        <p:spPr>
          <a:xfrm>
            <a:off x="457200" y="3639312"/>
            <a:ext cx="320040" cy="54864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7C2159B-65A3-ECFA-F0A6-C607319BBAD0}"/>
              </a:ext>
            </a:extLst>
          </p:cNvPr>
          <p:cNvSpPr/>
          <p:nvPr/>
        </p:nvSpPr>
        <p:spPr>
          <a:xfrm>
            <a:off x="457200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¿Qué componentes de la calidad marcan la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diferencia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?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9E80862-243D-EC44-6D67-24EB86FD30AB}"/>
              </a:ext>
            </a:extLst>
          </p:cNvPr>
          <p:cNvSpPr/>
          <p:nvPr/>
        </p:nvSpPr>
        <p:spPr>
          <a:xfrm>
            <a:off x="3273552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</a:t>
            </a:r>
            <a:endParaRPr lang="en-US" sz="2200">
              <a:latin typeface="EYInterstate" panose="02000503020000020004" pitchFamily="2" charset="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3570A4D-5947-56BD-26CE-D02E2F553698}"/>
              </a:ext>
            </a:extLst>
          </p:cNvPr>
          <p:cNvSpPr/>
          <p:nvPr/>
        </p:nvSpPr>
        <p:spPr>
          <a:xfrm>
            <a:off x="3273552" y="3639312"/>
            <a:ext cx="320040" cy="54864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9910052-147E-9471-549F-07975684DFC9}"/>
              </a:ext>
            </a:extLst>
          </p:cNvPr>
          <p:cNvSpPr/>
          <p:nvPr/>
        </p:nvSpPr>
        <p:spPr>
          <a:xfrm>
            <a:off x="3273552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¿Las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explican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el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?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1CC8873-8887-9716-C786-93B8C0244F7C}"/>
              </a:ext>
            </a:extLst>
          </p:cNvPr>
          <p:cNvSpPr/>
          <p:nvPr/>
        </p:nvSpPr>
        <p:spPr>
          <a:xfrm>
            <a:off x="6089904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</a:t>
            </a:r>
            <a:endParaRPr lang="en-US" sz="2200">
              <a:latin typeface="EYInterstate" panose="02000503020000020004" pitchFamily="2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6357FE7-0618-799A-5A05-8410EA14A1C5}"/>
              </a:ext>
            </a:extLst>
          </p:cNvPr>
          <p:cNvSpPr/>
          <p:nvPr/>
        </p:nvSpPr>
        <p:spPr>
          <a:xfrm>
            <a:off x="6089904" y="3639312"/>
            <a:ext cx="320040" cy="54864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EC69C41-E5DB-2B47-A8A0-F732EE04FDF0}"/>
              </a:ext>
            </a:extLst>
          </p:cNvPr>
          <p:cNvSpPr/>
          <p:nvPr/>
        </p:nvSpPr>
        <p:spPr>
          <a:xfrm>
            <a:off x="6089904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¿Las mejores plataformas se usan más?</a:t>
            </a:r>
            <a:endParaRPr lang="en-US" sz="1100">
              <a:latin typeface="EYInterstate" panose="02000503020000020004" pitchFamily="2" charset="0"/>
            </a:endParaRPr>
          </a:p>
        </p:txBody>
      </p:sp>
      <p:pic>
        <p:nvPicPr>
          <p:cNvPr id="12" name="Picture 11" descr="Unitree Robotics | Quadruped robots | Invelon Technologies">
            <a:extLst>
              <a:ext uri="{FF2B5EF4-FFF2-40B4-BE49-F238E27FC236}">
                <a16:creationId xmlns:a16="http://schemas.microsoft.com/office/drawing/2014/main" id="{DBD9B96B-84B5-CBAE-3863-5DE58E3E5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198" y="4766052"/>
            <a:ext cx="809554" cy="19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0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40B21-35B2-DFAA-B32C-9094FB3C1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04B212-8F71-EC76-A8A6-3B270C750314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585141-2679-DC1A-D021-E61F9F192220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 · CALIDAD DE LA PLATAFORMA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AC4A3B-C205-7C1E-4DDF-EA6EF8392E86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España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supera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media UE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pierde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puntos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accesibilidad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transparencia</a:t>
            </a:r>
            <a:endParaRPr lang="en-US" sz="200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4397B1C-E43B-BAFB-E144-5440E02DC3CF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0475AD-E944-BA6C-D95A-A254291E96AB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Fuente: Comisión Europea, eGovernment Benchmark 2025.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Puntuación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0-100, media de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9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sectores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. España</a:t>
            </a:r>
            <a:endParaRPr lang="en-US" sz="700">
              <a:latin typeface="EYInterstate" panose="02000503020000020004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83804B-625A-C39F-2618-262C79AEF548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</a:t>
            </a:r>
            <a:endParaRPr lang="en-US" sz="80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DBCFA1-2571-BA20-F7B3-A461A92D2E3B}"/>
              </a:ext>
            </a:extLst>
          </p:cNvPr>
          <p:cNvGrpSpPr/>
          <p:nvPr/>
        </p:nvGrpSpPr>
        <p:grpSpPr>
          <a:xfrm>
            <a:off x="5512479" y="1129675"/>
            <a:ext cx="2651760" cy="850392"/>
            <a:chOff x="6172200" y="1325880"/>
            <a:chExt cx="2651760" cy="850392"/>
          </a:xfrm>
        </p:grpSpPr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5CB1C1AA-3A70-0100-DE3B-535A1C696FBC}"/>
                </a:ext>
              </a:extLst>
            </p:cNvPr>
            <p:cNvSpPr/>
            <p:nvPr/>
          </p:nvSpPr>
          <p:spPr>
            <a:xfrm>
              <a:off x="6172200" y="1325880"/>
              <a:ext cx="1280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 b="1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79,1</a:t>
              </a:r>
              <a:endParaRPr lang="en-US" sz="3000">
                <a:latin typeface="EYInterstate" panose="02000503020000020004" pitchFamily="2" charset="0"/>
              </a:endParaRP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3EF23CDC-EA96-487D-294B-CDA6A59838D6}"/>
                </a:ext>
              </a:extLst>
            </p:cNvPr>
            <p:cNvSpPr/>
            <p:nvPr/>
          </p:nvSpPr>
          <p:spPr>
            <a:xfrm>
              <a:off x="6172200" y="1856232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Calidad España</a:t>
              </a:r>
              <a:endParaRPr lang="en-US" sz="850">
                <a:latin typeface="EYInterstate" panose="02000503020000020004" pitchFamily="2" charset="0"/>
              </a:endParaRPr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E3B20111-253C-F589-BE15-FF44C22D3D29}"/>
                </a:ext>
              </a:extLst>
            </p:cNvPr>
            <p:cNvSpPr/>
            <p:nvPr/>
          </p:nvSpPr>
          <p:spPr>
            <a:xfrm>
              <a:off x="7543800" y="1325880"/>
              <a:ext cx="1280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 b="1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74,7</a:t>
              </a:r>
              <a:endParaRPr lang="en-US" sz="3000">
                <a:latin typeface="EYInterstate" panose="02000503020000020004" pitchFamily="2" charset="0"/>
              </a:endParaRPr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B0068CF4-74D9-DDAF-84A5-34B2A433E0BE}"/>
                </a:ext>
              </a:extLst>
            </p:cNvPr>
            <p:cNvSpPr/>
            <p:nvPr/>
          </p:nvSpPr>
          <p:spPr>
            <a:xfrm>
              <a:off x="7543800" y="1856232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Media UE</a:t>
              </a:r>
              <a:endParaRPr lang="en-US" sz="850">
                <a:latin typeface="EYInterstate" panose="02000503020000020004" pitchFamily="2" charset="0"/>
              </a:endParaRPr>
            </a:p>
          </p:txBody>
        </p:sp>
      </p:grp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1255EAA6-24CC-FC6E-7413-26CD7E228F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963262"/>
              </p:ext>
            </p:extLst>
          </p:nvPr>
        </p:nvGraphicFramePr>
        <p:xfrm>
          <a:off x="4350306" y="1849712"/>
          <a:ext cx="4285930" cy="2745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5274275C-EFBE-4036-B8B4-86C5C4C8B64A}"/>
              </a:ext>
            </a:extLst>
          </p:cNvPr>
          <p:cNvGrpSpPr/>
          <p:nvPr/>
        </p:nvGrpSpPr>
        <p:grpSpPr>
          <a:xfrm>
            <a:off x="521208" y="1234439"/>
            <a:ext cx="3624997" cy="3360405"/>
            <a:chOff x="521208" y="1541754"/>
            <a:chExt cx="3335867" cy="311484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F662B7C-1EF1-FA8E-FAC0-F665D0CC0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633" t="19706" r="1857"/>
            <a:stretch>
              <a:fillRect/>
            </a:stretch>
          </p:blipFill>
          <p:spPr>
            <a:xfrm>
              <a:off x="521208" y="1928644"/>
              <a:ext cx="3335867" cy="272795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D3949B3-AB24-A655-DD59-207BCE518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895" t="2803" r="1219" b="85337"/>
            <a:stretch>
              <a:fillRect/>
            </a:stretch>
          </p:blipFill>
          <p:spPr>
            <a:xfrm>
              <a:off x="521208" y="1541754"/>
              <a:ext cx="3335867" cy="391259"/>
            </a:xfrm>
            <a:prstGeom prst="rect">
              <a:avLst/>
            </a:prstGeom>
          </p:spPr>
        </p:pic>
      </p:grpSp>
      <p:pic>
        <p:nvPicPr>
          <p:cNvPr id="11" name="Picture 10" descr="Unitree Robotics | Quadruped robots | Invelon Technologies">
            <a:extLst>
              <a:ext uri="{FF2B5EF4-FFF2-40B4-BE49-F238E27FC236}">
                <a16:creationId xmlns:a16="http://schemas.microsoft.com/office/drawing/2014/main" id="{70DDCF4C-E949-ADF5-7EB0-43DD202E6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198" y="4766052"/>
            <a:ext cx="809554" cy="19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1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2FEA3-1274-3298-1602-9E76B200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6EEF6A-4545-97A4-A099-0E6EB7549FE1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5ED07F-AE7B-5A6C-F080-3414669844ED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 · COMPETENCIAS → USO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1E9026-5C9F-9BE8-34AD-65EC9FF2EB7A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más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población con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básicas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mayor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Administración Online</a:t>
            </a:r>
            <a:endParaRPr lang="en-US" sz="200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76471E-5072-86FB-AE27-042BD5ACC292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D403C0-BD7F-303D-8EFC-2124B76EE707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Fuente: Eurostat, 2025. UE-27, 16-74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años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. Cada punto es un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líneas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discontinuas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= media UE</a:t>
            </a:r>
            <a:endParaRPr lang="en-US" sz="700">
              <a:latin typeface="EYInterstate" panose="02000503020000020004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DC9B4E-91E3-8AE9-90EC-6BF1DBEF97E2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4</a:t>
            </a:r>
            <a:endParaRPr lang="en-US" sz="80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5AE2964-DEB0-F632-EE02-1101A73413BD}"/>
              </a:ext>
            </a:extLst>
          </p:cNvPr>
          <p:cNvGrpSpPr/>
          <p:nvPr/>
        </p:nvGrpSpPr>
        <p:grpSpPr>
          <a:xfrm>
            <a:off x="360000" y="1368000"/>
            <a:ext cx="4860063" cy="3209544"/>
            <a:chOff x="619659" y="1335024"/>
            <a:chExt cx="5671413" cy="3209544"/>
          </a:xfrm>
        </p:grpSpPr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5E452AC4-DBC2-ABCC-479F-83833670992E}"/>
                </a:ext>
              </a:extLst>
            </p:cNvPr>
            <p:cNvSpPr/>
            <p:nvPr/>
          </p:nvSpPr>
          <p:spPr>
            <a:xfrm>
              <a:off x="5152644" y="1508760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Finlandia</a:t>
              </a:r>
              <a:endParaRPr lang="en-US" sz="700">
                <a:latin typeface="EYInterstate" panose="02000503020000020004" pitchFamily="2" charset="0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3AFD22E-B8E5-CBE6-1B84-BF153F53463B}"/>
                </a:ext>
              </a:extLst>
            </p:cNvPr>
            <p:cNvGrpSpPr/>
            <p:nvPr/>
          </p:nvGrpSpPr>
          <p:grpSpPr>
            <a:xfrm>
              <a:off x="619659" y="1335024"/>
              <a:ext cx="5671413" cy="3209544"/>
              <a:chOff x="619659" y="1335024"/>
              <a:chExt cx="5671413" cy="3209544"/>
            </a:xfrm>
          </p:grpSpPr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4518BC9E-EDF7-5E95-6BD5-740F0066CB69}"/>
                  </a:ext>
                </a:extLst>
              </p:cNvPr>
              <p:cNvSpPr/>
              <p:nvPr/>
            </p:nvSpPr>
            <p:spPr>
              <a:xfrm>
                <a:off x="5486400" y="4187952"/>
                <a:ext cx="54864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90%</a:t>
                </a:r>
                <a:endParaRPr lang="en-US" sz="700">
                  <a:latin typeface="EYInterstate" panose="02000503020000020004" pitchFamily="2" charset="0"/>
                </a:endParaRPr>
              </a:p>
            </p:txBody>
          </p:sp>
          <p:sp>
            <p:nvSpPr>
              <p:cNvPr id="32" name="Text 30">
                <a:extLst>
                  <a:ext uri="{FF2B5EF4-FFF2-40B4-BE49-F238E27FC236}">
                    <a16:creationId xmlns:a16="http://schemas.microsoft.com/office/drawing/2014/main" id="{D96AF8A2-C98D-61CE-C872-FA2F19066F9B}"/>
                  </a:ext>
                </a:extLst>
              </p:cNvPr>
              <p:cNvSpPr/>
              <p:nvPr/>
            </p:nvSpPr>
            <p:spPr>
              <a:xfrm>
                <a:off x="5376672" y="1691640"/>
                <a:ext cx="914400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1A1A24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Países Bajos</a:t>
                </a:r>
                <a:endParaRPr lang="en-US" sz="700">
                  <a:latin typeface="EYInterstate" panose="02000503020000020004" pitchFamily="2" charset="0"/>
                </a:endParaRP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B97ECFA9-1074-F768-5B08-E4088D5E1D6F}"/>
                  </a:ext>
                </a:extLst>
              </p:cNvPr>
              <p:cNvGrpSpPr/>
              <p:nvPr/>
            </p:nvGrpSpPr>
            <p:grpSpPr>
              <a:xfrm>
                <a:off x="619659" y="1335024"/>
                <a:ext cx="5141061" cy="3209544"/>
                <a:chOff x="619659" y="1335024"/>
                <a:chExt cx="5141061" cy="3209544"/>
              </a:xfrm>
            </p:grpSpPr>
            <p:sp>
              <p:nvSpPr>
                <p:cNvPr id="8" name="Shape 6">
                  <a:extLst>
                    <a:ext uri="{FF2B5EF4-FFF2-40B4-BE49-F238E27FC236}">
                      <a16:creationId xmlns:a16="http://schemas.microsoft.com/office/drawing/2014/main" id="{0D330B29-8155-EC23-DC89-1B34C5995DDB}"/>
                    </a:ext>
                  </a:extLst>
                </p:cNvPr>
                <p:cNvSpPr/>
                <p:nvPr/>
              </p:nvSpPr>
              <p:spPr>
                <a:xfrm>
                  <a:off x="1280160" y="4160520"/>
                  <a:ext cx="4480560" cy="0"/>
                </a:xfrm>
                <a:prstGeom prst="line">
                  <a:avLst/>
                </a:prstGeom>
                <a:noFill/>
                <a:ln w="9525">
                  <a:solidFill>
                    <a:srgbClr val="747480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9" name="Shape 7">
                  <a:extLst>
                    <a:ext uri="{FF2B5EF4-FFF2-40B4-BE49-F238E27FC236}">
                      <a16:creationId xmlns:a16="http://schemas.microsoft.com/office/drawing/2014/main" id="{BC3145AD-E4D7-292B-575B-ACA709BC6B30}"/>
                    </a:ext>
                  </a:extLst>
                </p:cNvPr>
                <p:cNvSpPr/>
                <p:nvPr/>
              </p:nvSpPr>
              <p:spPr>
                <a:xfrm>
                  <a:off x="1280160" y="1417320"/>
                  <a:ext cx="0" cy="2743200"/>
                </a:xfrm>
                <a:prstGeom prst="line">
                  <a:avLst/>
                </a:prstGeom>
                <a:noFill/>
                <a:ln w="9525">
                  <a:solidFill>
                    <a:srgbClr val="747480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0" name="Text 8">
                  <a:extLst>
                    <a:ext uri="{FF2B5EF4-FFF2-40B4-BE49-F238E27FC236}">
                      <a16:creationId xmlns:a16="http://schemas.microsoft.com/office/drawing/2014/main" id="{F12C936E-7AA2-8405-BB4B-144865016285}"/>
                    </a:ext>
                  </a:extLst>
                </p:cNvPr>
                <p:cNvSpPr/>
                <p:nvPr/>
              </p:nvSpPr>
              <p:spPr>
                <a:xfrm>
                  <a:off x="100584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30%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1" name="Text 9">
                  <a:extLst>
                    <a:ext uri="{FF2B5EF4-FFF2-40B4-BE49-F238E27FC236}">
                      <a16:creationId xmlns:a16="http://schemas.microsoft.com/office/drawing/2014/main" id="{B000C7A0-1DC2-9900-A5DC-72ECB4570346}"/>
                    </a:ext>
                  </a:extLst>
                </p:cNvPr>
                <p:cNvSpPr/>
                <p:nvPr/>
              </p:nvSpPr>
              <p:spPr>
                <a:xfrm>
                  <a:off x="175260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40%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2" name="Text 10">
                  <a:extLst>
                    <a:ext uri="{FF2B5EF4-FFF2-40B4-BE49-F238E27FC236}">
                      <a16:creationId xmlns:a16="http://schemas.microsoft.com/office/drawing/2014/main" id="{73DF3E54-9EA4-FA77-DD9D-237520C3D110}"/>
                    </a:ext>
                  </a:extLst>
                </p:cNvPr>
                <p:cNvSpPr/>
                <p:nvPr/>
              </p:nvSpPr>
              <p:spPr>
                <a:xfrm>
                  <a:off x="249936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50%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3" name="Text 11">
                  <a:extLst>
                    <a:ext uri="{FF2B5EF4-FFF2-40B4-BE49-F238E27FC236}">
                      <a16:creationId xmlns:a16="http://schemas.microsoft.com/office/drawing/2014/main" id="{B347CC28-253B-0A1A-F08F-4500283F6385}"/>
                    </a:ext>
                  </a:extLst>
                </p:cNvPr>
                <p:cNvSpPr/>
                <p:nvPr/>
              </p:nvSpPr>
              <p:spPr>
                <a:xfrm>
                  <a:off x="324612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60%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4" name="Text 12">
                  <a:extLst>
                    <a:ext uri="{FF2B5EF4-FFF2-40B4-BE49-F238E27FC236}">
                      <a16:creationId xmlns:a16="http://schemas.microsoft.com/office/drawing/2014/main" id="{A6A17AD0-049C-E01D-855F-6950C43F9AE1}"/>
                    </a:ext>
                  </a:extLst>
                </p:cNvPr>
                <p:cNvSpPr/>
                <p:nvPr/>
              </p:nvSpPr>
              <p:spPr>
                <a:xfrm>
                  <a:off x="399288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70%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5" name="Text 13">
                  <a:extLst>
                    <a:ext uri="{FF2B5EF4-FFF2-40B4-BE49-F238E27FC236}">
                      <a16:creationId xmlns:a16="http://schemas.microsoft.com/office/drawing/2014/main" id="{EED1F776-B261-1AB2-03F0-E33FAB7BDE83}"/>
                    </a:ext>
                  </a:extLst>
                </p:cNvPr>
                <p:cNvSpPr/>
                <p:nvPr/>
              </p:nvSpPr>
              <p:spPr>
                <a:xfrm>
                  <a:off x="473964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80%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7" name="Text 15">
                  <a:extLst>
                    <a:ext uri="{FF2B5EF4-FFF2-40B4-BE49-F238E27FC236}">
                      <a16:creationId xmlns:a16="http://schemas.microsoft.com/office/drawing/2014/main" id="{114C026F-9E8A-C628-2902-305DE9AF9A7D}"/>
                    </a:ext>
                  </a:extLst>
                </p:cNvPr>
                <p:cNvSpPr/>
                <p:nvPr/>
              </p:nvSpPr>
              <p:spPr>
                <a:xfrm>
                  <a:off x="868680" y="37734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20%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8" name="Text 16">
                  <a:extLst>
                    <a:ext uri="{FF2B5EF4-FFF2-40B4-BE49-F238E27FC236}">
                      <a16:creationId xmlns:a16="http://schemas.microsoft.com/office/drawing/2014/main" id="{71C2CA1D-C2FA-4BF9-CB89-54370741BDA0}"/>
                    </a:ext>
                  </a:extLst>
                </p:cNvPr>
                <p:cNvSpPr/>
                <p:nvPr/>
              </p:nvSpPr>
              <p:spPr>
                <a:xfrm>
                  <a:off x="868680" y="31638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40%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9" name="Text 17">
                  <a:extLst>
                    <a:ext uri="{FF2B5EF4-FFF2-40B4-BE49-F238E27FC236}">
                      <a16:creationId xmlns:a16="http://schemas.microsoft.com/office/drawing/2014/main" id="{15B7A5E5-33AF-24C2-3561-681D653CB6D9}"/>
                    </a:ext>
                  </a:extLst>
                </p:cNvPr>
                <p:cNvSpPr/>
                <p:nvPr/>
              </p:nvSpPr>
              <p:spPr>
                <a:xfrm>
                  <a:off x="868680" y="25542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60%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0" name="Text 18">
                  <a:extLst>
                    <a:ext uri="{FF2B5EF4-FFF2-40B4-BE49-F238E27FC236}">
                      <a16:creationId xmlns:a16="http://schemas.microsoft.com/office/drawing/2014/main" id="{7E7BE84E-2C64-06D6-0C7B-8AD3E794773E}"/>
                    </a:ext>
                  </a:extLst>
                </p:cNvPr>
                <p:cNvSpPr/>
                <p:nvPr/>
              </p:nvSpPr>
              <p:spPr>
                <a:xfrm>
                  <a:off x="868680" y="19446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80%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1" name="Text 19">
                  <a:extLst>
                    <a:ext uri="{FF2B5EF4-FFF2-40B4-BE49-F238E27FC236}">
                      <a16:creationId xmlns:a16="http://schemas.microsoft.com/office/drawing/2014/main" id="{C423F126-E748-A29E-46AD-FB32E5021481}"/>
                    </a:ext>
                  </a:extLst>
                </p:cNvPr>
                <p:cNvSpPr/>
                <p:nvPr/>
              </p:nvSpPr>
              <p:spPr>
                <a:xfrm>
                  <a:off x="868680" y="13350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100%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2" name="Text 20">
                  <a:extLst>
                    <a:ext uri="{FF2B5EF4-FFF2-40B4-BE49-F238E27FC236}">
                      <a16:creationId xmlns:a16="http://schemas.microsoft.com/office/drawing/2014/main" id="{82BA0922-F019-3493-9976-6D1A6B9976E3}"/>
                    </a:ext>
                  </a:extLst>
                </p:cNvPr>
                <p:cNvSpPr/>
                <p:nvPr/>
              </p:nvSpPr>
              <p:spPr>
                <a:xfrm>
                  <a:off x="1280160" y="4361688"/>
                  <a:ext cx="4480560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(%) Población con </a:t>
                  </a:r>
                  <a:r>
                    <a:rPr lang="en-US" sz="750" b="1" err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competencias</a:t>
                  </a:r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750" b="1" err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digitales</a:t>
                  </a:r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750" b="1" err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básicas</a:t>
                  </a:r>
                  <a:endParaRPr lang="en-US" sz="7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3" name="Text 21">
                  <a:extLst>
                    <a:ext uri="{FF2B5EF4-FFF2-40B4-BE49-F238E27FC236}">
                      <a16:creationId xmlns:a16="http://schemas.microsoft.com/office/drawing/2014/main" id="{8A6EF86D-63CB-25ED-E01B-AF60840AA19A}"/>
                    </a:ext>
                  </a:extLst>
                </p:cNvPr>
                <p:cNvSpPr/>
                <p:nvPr/>
              </p:nvSpPr>
              <p:spPr>
                <a:xfrm>
                  <a:off x="619659" y="1417320"/>
                  <a:ext cx="228600" cy="2743200"/>
                </a:xfrm>
                <a:prstGeom prst="rect">
                  <a:avLst/>
                </a:prstGeom>
                <a:noFill/>
                <a:ln/>
              </p:spPr>
              <p:txBody>
                <a:bodyPr vert="vert270" wrap="square" lIns="0" tIns="0" rIns="0" bIns="0" rtlCol="0" anchor="ctr"/>
                <a:lstStyle/>
                <a:p>
                  <a:pPr algn="ctr"/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 (%) Uso Administración online</a:t>
                  </a:r>
                  <a:endParaRPr lang="en-US" sz="7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4" name="Shape 22">
                  <a:extLst>
                    <a:ext uri="{FF2B5EF4-FFF2-40B4-BE49-F238E27FC236}">
                      <a16:creationId xmlns:a16="http://schemas.microsoft.com/office/drawing/2014/main" id="{3D704E48-A2CB-E364-8B0A-5FB3B094BA24}"/>
                    </a:ext>
                  </a:extLst>
                </p:cNvPr>
                <p:cNvSpPr/>
                <p:nvPr/>
              </p:nvSpPr>
              <p:spPr>
                <a:xfrm>
                  <a:off x="3550310" y="1417320"/>
                  <a:ext cx="0" cy="2743200"/>
                </a:xfrm>
                <a:prstGeom prst="line">
                  <a:avLst/>
                </a:prstGeom>
                <a:noFill/>
                <a:ln w="9525">
                  <a:solidFill>
                    <a:srgbClr val="C4C4CD"/>
                  </a:solidFill>
                  <a:prstDash val="dash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5" name="Shape 23">
                  <a:extLst>
                    <a:ext uri="{FF2B5EF4-FFF2-40B4-BE49-F238E27FC236}">
                      <a16:creationId xmlns:a16="http://schemas.microsoft.com/office/drawing/2014/main" id="{52F70565-3C8F-CA42-5C27-D6BFB3A9650A}"/>
                    </a:ext>
                  </a:extLst>
                </p:cNvPr>
                <p:cNvSpPr/>
                <p:nvPr/>
              </p:nvSpPr>
              <p:spPr>
                <a:xfrm>
                  <a:off x="1280160" y="2706624"/>
                  <a:ext cx="4480560" cy="0"/>
                </a:xfrm>
                <a:prstGeom prst="line">
                  <a:avLst/>
                </a:prstGeom>
                <a:noFill/>
                <a:ln w="9525">
                  <a:solidFill>
                    <a:srgbClr val="C4C4CD"/>
                  </a:solidFill>
                  <a:prstDash val="dash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6" name="Text 24">
                  <a:extLst>
                    <a:ext uri="{FF2B5EF4-FFF2-40B4-BE49-F238E27FC236}">
                      <a16:creationId xmlns:a16="http://schemas.microsoft.com/office/drawing/2014/main" id="{7BB18380-3419-4B1C-2A9E-127043944910}"/>
                    </a:ext>
                  </a:extLst>
                </p:cNvPr>
                <p:cNvSpPr/>
                <p:nvPr/>
              </p:nvSpPr>
              <p:spPr>
                <a:xfrm>
                  <a:off x="5029200" y="2523744"/>
                  <a:ext cx="731520" cy="1554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65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Media UE</a:t>
                  </a:r>
                  <a:endParaRPr lang="en-US" sz="6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7" name="Shape 25">
                  <a:extLst>
                    <a:ext uri="{FF2B5EF4-FFF2-40B4-BE49-F238E27FC236}">
                      <a16:creationId xmlns:a16="http://schemas.microsoft.com/office/drawing/2014/main" id="{E420965C-8EE4-7940-C5D3-9E4D99A93CD7}"/>
                    </a:ext>
                  </a:extLst>
                </p:cNvPr>
                <p:cNvSpPr/>
                <p:nvPr/>
              </p:nvSpPr>
              <p:spPr>
                <a:xfrm flipV="1">
                  <a:off x="1429512" y="1783613"/>
                  <a:ext cx="3883152" cy="1628384"/>
                </a:xfrm>
                <a:prstGeom prst="line">
                  <a:avLst/>
                </a:prstGeom>
                <a:noFill/>
                <a:ln w="12700">
                  <a:solidFill>
                    <a:srgbClr val="2E2E38"/>
                  </a:solidFill>
                  <a:prstDash val="sysDot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8" name="Shape 26">
                  <a:extLst>
                    <a:ext uri="{FF2B5EF4-FFF2-40B4-BE49-F238E27FC236}">
                      <a16:creationId xmlns:a16="http://schemas.microsoft.com/office/drawing/2014/main" id="{748A1330-D15F-C5C6-A383-F06B9428CF65}"/>
                    </a:ext>
                  </a:extLst>
                </p:cNvPr>
                <p:cNvSpPr/>
                <p:nvPr/>
              </p:nvSpPr>
              <p:spPr>
                <a:xfrm>
                  <a:off x="5038344" y="164134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0" name="Shape 28">
                  <a:extLst>
                    <a:ext uri="{FF2B5EF4-FFF2-40B4-BE49-F238E27FC236}">
                      <a16:creationId xmlns:a16="http://schemas.microsoft.com/office/drawing/2014/main" id="{2E9A884F-AE66-39F1-AA05-62C703090686}"/>
                    </a:ext>
                  </a:extLst>
                </p:cNvPr>
                <p:cNvSpPr/>
                <p:nvPr/>
              </p:nvSpPr>
              <p:spPr>
                <a:xfrm>
                  <a:off x="5075682" y="16565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1" name="Shape 29">
                  <a:extLst>
                    <a:ext uri="{FF2B5EF4-FFF2-40B4-BE49-F238E27FC236}">
                      <a16:creationId xmlns:a16="http://schemas.microsoft.com/office/drawing/2014/main" id="{BC0A81DB-89B0-8A52-C1B4-87B9CDC0F6DD}"/>
                    </a:ext>
                  </a:extLst>
                </p:cNvPr>
                <p:cNvSpPr/>
                <p:nvPr/>
              </p:nvSpPr>
              <p:spPr>
                <a:xfrm>
                  <a:off x="5262372" y="182422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3" name="Shape 31">
                  <a:extLst>
                    <a:ext uri="{FF2B5EF4-FFF2-40B4-BE49-F238E27FC236}">
                      <a16:creationId xmlns:a16="http://schemas.microsoft.com/office/drawing/2014/main" id="{DC35D3D6-369F-CD12-1BA0-09FE665DC34B}"/>
                    </a:ext>
                  </a:extLst>
                </p:cNvPr>
                <p:cNvSpPr/>
                <p:nvPr/>
              </p:nvSpPr>
              <p:spPr>
                <a:xfrm>
                  <a:off x="5187696" y="215950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4" name="Shape 32">
                  <a:extLst>
                    <a:ext uri="{FF2B5EF4-FFF2-40B4-BE49-F238E27FC236}">
                      <a16:creationId xmlns:a16="http://schemas.microsoft.com/office/drawing/2014/main" id="{51770775-140D-6C75-BDB4-99C47CCD3F81}"/>
                    </a:ext>
                  </a:extLst>
                </p:cNvPr>
                <p:cNvSpPr/>
                <p:nvPr/>
              </p:nvSpPr>
              <p:spPr>
                <a:xfrm>
                  <a:off x="4216908" y="185470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5" name="Shape 33">
                  <a:extLst>
                    <a:ext uri="{FF2B5EF4-FFF2-40B4-BE49-F238E27FC236}">
                      <a16:creationId xmlns:a16="http://schemas.microsoft.com/office/drawing/2014/main" id="{53E794EE-5395-8EEC-666B-62A1DAB17908}"/>
                    </a:ext>
                  </a:extLst>
                </p:cNvPr>
                <p:cNvSpPr/>
                <p:nvPr/>
              </p:nvSpPr>
              <p:spPr>
                <a:xfrm>
                  <a:off x="3619500" y="18851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6" name="Shape 34">
                  <a:extLst>
                    <a:ext uri="{FF2B5EF4-FFF2-40B4-BE49-F238E27FC236}">
                      <a16:creationId xmlns:a16="http://schemas.microsoft.com/office/drawing/2014/main" id="{944A64AC-6E14-7816-AFEC-3CF24D05DD10}"/>
                    </a:ext>
                  </a:extLst>
                </p:cNvPr>
                <p:cNvSpPr/>
                <p:nvPr/>
              </p:nvSpPr>
              <p:spPr>
                <a:xfrm>
                  <a:off x="3619500" y="20985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7" name="Shape 35">
                  <a:extLst>
                    <a:ext uri="{FF2B5EF4-FFF2-40B4-BE49-F238E27FC236}">
                      <a16:creationId xmlns:a16="http://schemas.microsoft.com/office/drawing/2014/main" id="{9C7C7B4D-1B37-2ECF-6B8E-8B9F742A6F19}"/>
                    </a:ext>
                  </a:extLst>
                </p:cNvPr>
                <p:cNvSpPr/>
                <p:nvPr/>
              </p:nvSpPr>
              <p:spPr>
                <a:xfrm>
                  <a:off x="3694176" y="228142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8" name="Shape 36">
                  <a:extLst>
                    <a:ext uri="{FF2B5EF4-FFF2-40B4-BE49-F238E27FC236}">
                      <a16:creationId xmlns:a16="http://schemas.microsoft.com/office/drawing/2014/main" id="{8F86883A-6D57-5AE5-E922-41EF0817BE17}"/>
                    </a:ext>
                  </a:extLst>
                </p:cNvPr>
                <p:cNvSpPr/>
                <p:nvPr/>
              </p:nvSpPr>
              <p:spPr>
                <a:xfrm>
                  <a:off x="4216908" y="237286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9" name="Shape 37">
                  <a:extLst>
                    <a:ext uri="{FF2B5EF4-FFF2-40B4-BE49-F238E27FC236}">
                      <a16:creationId xmlns:a16="http://schemas.microsoft.com/office/drawing/2014/main" id="{A1A12A3F-A0CB-2D51-F641-B8577803E749}"/>
                    </a:ext>
                  </a:extLst>
                </p:cNvPr>
                <p:cNvSpPr/>
                <p:nvPr/>
              </p:nvSpPr>
              <p:spPr>
                <a:xfrm>
                  <a:off x="3992880" y="243382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0" name="Shape 38">
                  <a:extLst>
                    <a:ext uri="{FF2B5EF4-FFF2-40B4-BE49-F238E27FC236}">
                      <a16:creationId xmlns:a16="http://schemas.microsoft.com/office/drawing/2014/main" id="{2EE1B0E2-5B4E-1A48-8AD5-A261F0D9A33C}"/>
                    </a:ext>
                  </a:extLst>
                </p:cNvPr>
                <p:cNvSpPr/>
                <p:nvPr/>
              </p:nvSpPr>
              <p:spPr>
                <a:xfrm>
                  <a:off x="3955542" y="244906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1" name="Shape 39">
                  <a:extLst>
                    <a:ext uri="{FF2B5EF4-FFF2-40B4-BE49-F238E27FC236}">
                      <a16:creationId xmlns:a16="http://schemas.microsoft.com/office/drawing/2014/main" id="{40AF8C8B-6AA7-C51F-9F33-54EAC27719FC}"/>
                    </a:ext>
                  </a:extLst>
                </p:cNvPr>
                <p:cNvSpPr/>
                <p:nvPr/>
              </p:nvSpPr>
              <p:spPr>
                <a:xfrm>
                  <a:off x="3869435" y="2467356"/>
                  <a:ext cx="176786" cy="142920"/>
                </a:xfrm>
                <a:prstGeom prst="ellipse">
                  <a:avLst/>
                </a:prstGeom>
                <a:solidFill>
                  <a:srgbClr val="FFE600"/>
                </a:solidFill>
                <a:ln w="12700">
                  <a:solidFill>
                    <a:srgbClr val="1A1A24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2" name="Text 40">
                  <a:extLst>
                    <a:ext uri="{FF2B5EF4-FFF2-40B4-BE49-F238E27FC236}">
                      <a16:creationId xmlns:a16="http://schemas.microsoft.com/office/drawing/2014/main" id="{2FCE562A-05AA-289D-0E40-F2D7B6C7A655}"/>
                    </a:ext>
                  </a:extLst>
                </p:cNvPr>
                <p:cNvSpPr/>
                <p:nvPr/>
              </p:nvSpPr>
              <p:spPr>
                <a:xfrm>
                  <a:off x="4032504" y="236220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850" b="1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España</a:t>
                  </a:r>
                  <a:endParaRPr lang="en-US" sz="8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3" name="Shape 41">
                  <a:extLst>
                    <a:ext uri="{FF2B5EF4-FFF2-40B4-BE49-F238E27FC236}">
                      <a16:creationId xmlns:a16="http://schemas.microsoft.com/office/drawing/2014/main" id="{0126B868-FBEC-4C67-CDE1-02EFDC3CDB97}"/>
                    </a:ext>
                  </a:extLst>
                </p:cNvPr>
                <p:cNvSpPr/>
                <p:nvPr/>
              </p:nvSpPr>
              <p:spPr>
                <a:xfrm>
                  <a:off x="4179570" y="24947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4" name="Shape 42">
                  <a:extLst>
                    <a:ext uri="{FF2B5EF4-FFF2-40B4-BE49-F238E27FC236}">
                      <a16:creationId xmlns:a16="http://schemas.microsoft.com/office/drawing/2014/main" id="{C8A1852B-0BB8-FE0C-C07C-9FCD7877905E}"/>
                    </a:ext>
                  </a:extLst>
                </p:cNvPr>
                <p:cNvSpPr/>
                <p:nvPr/>
              </p:nvSpPr>
              <p:spPr>
                <a:xfrm>
                  <a:off x="3395472" y="25557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5" name="Shape 43">
                  <a:extLst>
                    <a:ext uri="{FF2B5EF4-FFF2-40B4-BE49-F238E27FC236}">
                      <a16:creationId xmlns:a16="http://schemas.microsoft.com/office/drawing/2014/main" id="{518BBEB7-3057-9B6C-6BFF-B84529B2BC03}"/>
                    </a:ext>
                  </a:extLst>
                </p:cNvPr>
                <p:cNvSpPr/>
                <p:nvPr/>
              </p:nvSpPr>
              <p:spPr>
                <a:xfrm>
                  <a:off x="3694176" y="273862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6" name="Text 44">
                  <a:extLst>
                    <a:ext uri="{FF2B5EF4-FFF2-40B4-BE49-F238E27FC236}">
                      <a16:creationId xmlns:a16="http://schemas.microsoft.com/office/drawing/2014/main" id="{0834289D-0C00-A632-D1EA-5DEC10D9CF9D}"/>
                    </a:ext>
                  </a:extLst>
                </p:cNvPr>
                <p:cNvSpPr/>
                <p:nvPr/>
              </p:nvSpPr>
              <p:spPr>
                <a:xfrm>
                  <a:off x="3622691" y="2835777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 err="1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Croacia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7" name="Shape 45">
                  <a:extLst>
                    <a:ext uri="{FF2B5EF4-FFF2-40B4-BE49-F238E27FC236}">
                      <a16:creationId xmlns:a16="http://schemas.microsoft.com/office/drawing/2014/main" id="{9A7F1226-C406-474B-7923-B98579FA1BA9}"/>
                    </a:ext>
                  </a:extLst>
                </p:cNvPr>
                <p:cNvSpPr/>
                <p:nvPr/>
              </p:nvSpPr>
              <p:spPr>
                <a:xfrm>
                  <a:off x="3470148" y="28605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8" name="Shape 46">
                  <a:extLst>
                    <a:ext uri="{FF2B5EF4-FFF2-40B4-BE49-F238E27FC236}">
                      <a16:creationId xmlns:a16="http://schemas.microsoft.com/office/drawing/2014/main" id="{4067E68F-B802-8677-6B7D-36DD29F361BA}"/>
                    </a:ext>
                  </a:extLst>
                </p:cNvPr>
                <p:cNvSpPr/>
                <p:nvPr/>
              </p:nvSpPr>
              <p:spPr>
                <a:xfrm>
                  <a:off x="3022092" y="276910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9" name="Shape 47">
                  <a:extLst>
                    <a:ext uri="{FF2B5EF4-FFF2-40B4-BE49-F238E27FC236}">
                      <a16:creationId xmlns:a16="http://schemas.microsoft.com/office/drawing/2014/main" id="{3FFC0005-FEAB-03BF-280D-15EBE16681BB}"/>
                    </a:ext>
                  </a:extLst>
                </p:cNvPr>
                <p:cNvSpPr/>
                <p:nvPr/>
              </p:nvSpPr>
              <p:spPr>
                <a:xfrm>
                  <a:off x="2760726" y="30129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0" name="Shape 48">
                  <a:extLst>
                    <a:ext uri="{FF2B5EF4-FFF2-40B4-BE49-F238E27FC236}">
                      <a16:creationId xmlns:a16="http://schemas.microsoft.com/office/drawing/2014/main" id="{CDC39714-6652-DE5D-F89A-37193E7EF392}"/>
                    </a:ext>
                  </a:extLst>
                </p:cNvPr>
                <p:cNvSpPr/>
                <p:nvPr/>
              </p:nvSpPr>
              <p:spPr>
                <a:xfrm>
                  <a:off x="3022092" y="310438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1" name="Text 49">
                  <a:extLst>
                    <a:ext uri="{FF2B5EF4-FFF2-40B4-BE49-F238E27FC236}">
                      <a16:creationId xmlns:a16="http://schemas.microsoft.com/office/drawing/2014/main" id="{C7434BB9-298F-2E07-8D7B-B9109CBD02F7}"/>
                    </a:ext>
                  </a:extLst>
                </p:cNvPr>
                <p:cNvSpPr/>
                <p:nvPr/>
              </p:nvSpPr>
              <p:spPr>
                <a:xfrm>
                  <a:off x="3136392" y="297180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Italia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2" name="Shape 50">
                  <a:extLst>
                    <a:ext uri="{FF2B5EF4-FFF2-40B4-BE49-F238E27FC236}">
                      <a16:creationId xmlns:a16="http://schemas.microsoft.com/office/drawing/2014/main" id="{047B8226-892A-9AFA-40F8-0FD8C22DEE1E}"/>
                    </a:ext>
                  </a:extLst>
                </p:cNvPr>
                <p:cNvSpPr/>
                <p:nvPr/>
              </p:nvSpPr>
              <p:spPr>
                <a:xfrm>
                  <a:off x="1827276" y="362254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3" name="Text 51">
                  <a:extLst>
                    <a:ext uri="{FF2B5EF4-FFF2-40B4-BE49-F238E27FC236}">
                      <a16:creationId xmlns:a16="http://schemas.microsoft.com/office/drawing/2014/main" id="{9BB3C564-2038-D96F-1445-2C671966BC13}"/>
                    </a:ext>
                  </a:extLst>
                </p:cNvPr>
                <p:cNvSpPr/>
                <p:nvPr/>
              </p:nvSpPr>
              <p:spPr>
                <a:xfrm>
                  <a:off x="1941576" y="348996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Bulgaria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4" name="Shape 52">
                  <a:extLst>
                    <a:ext uri="{FF2B5EF4-FFF2-40B4-BE49-F238E27FC236}">
                      <a16:creationId xmlns:a16="http://schemas.microsoft.com/office/drawing/2014/main" id="{B633A02D-F151-9E69-F3AA-8EFA57F5DF24}"/>
                    </a:ext>
                  </a:extLst>
                </p:cNvPr>
                <p:cNvSpPr/>
                <p:nvPr/>
              </p:nvSpPr>
              <p:spPr>
                <a:xfrm>
                  <a:off x="1379220" y="389686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5" name="Text 53">
                  <a:extLst>
                    <a:ext uri="{FF2B5EF4-FFF2-40B4-BE49-F238E27FC236}">
                      <a16:creationId xmlns:a16="http://schemas.microsoft.com/office/drawing/2014/main" id="{45995C2D-3CEE-B013-D3B1-7D08009887E0}"/>
                    </a:ext>
                  </a:extLst>
                </p:cNvPr>
                <p:cNvSpPr/>
                <p:nvPr/>
              </p:nvSpPr>
              <p:spPr>
                <a:xfrm>
                  <a:off x="1493520" y="376428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Rumanía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6" name="Shape 54">
                  <a:extLst>
                    <a:ext uri="{FF2B5EF4-FFF2-40B4-BE49-F238E27FC236}">
                      <a16:creationId xmlns:a16="http://schemas.microsoft.com/office/drawing/2014/main" id="{2408C561-E690-875B-4855-D0BC74DC8E77}"/>
                    </a:ext>
                  </a:extLst>
                </p:cNvPr>
                <p:cNvSpPr/>
                <p:nvPr/>
              </p:nvSpPr>
              <p:spPr>
                <a:xfrm>
                  <a:off x="2424684" y="222046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7" name="Shape 55">
                  <a:extLst>
                    <a:ext uri="{FF2B5EF4-FFF2-40B4-BE49-F238E27FC236}">
                      <a16:creationId xmlns:a16="http://schemas.microsoft.com/office/drawing/2014/main" id="{49A18021-9585-17A8-E4BD-400F2F6BF1F5}"/>
                    </a:ext>
                  </a:extLst>
                </p:cNvPr>
                <p:cNvSpPr/>
                <p:nvPr/>
              </p:nvSpPr>
              <p:spPr>
                <a:xfrm>
                  <a:off x="3022092" y="2250948"/>
                  <a:ext cx="100584" cy="100584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8" name="Shape 56">
                  <a:extLst>
                    <a:ext uri="{FF2B5EF4-FFF2-40B4-BE49-F238E27FC236}">
                      <a16:creationId xmlns:a16="http://schemas.microsoft.com/office/drawing/2014/main" id="{D3B9145D-7037-AD49-EC2E-EC7628209E39}"/>
                    </a:ext>
                  </a:extLst>
                </p:cNvPr>
                <p:cNvSpPr/>
                <p:nvPr/>
              </p:nvSpPr>
              <p:spPr>
                <a:xfrm>
                  <a:off x="3246120" y="212902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9" name="Shape 57">
                  <a:extLst>
                    <a:ext uri="{FF2B5EF4-FFF2-40B4-BE49-F238E27FC236}">
                      <a16:creationId xmlns:a16="http://schemas.microsoft.com/office/drawing/2014/main" id="{DE05E266-71C3-4892-FA05-AD874672DAA0}"/>
                    </a:ext>
                  </a:extLst>
                </p:cNvPr>
                <p:cNvSpPr/>
                <p:nvPr/>
              </p:nvSpPr>
              <p:spPr>
                <a:xfrm>
                  <a:off x="3171444" y="24033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60" name="Shape 58">
                  <a:extLst>
                    <a:ext uri="{FF2B5EF4-FFF2-40B4-BE49-F238E27FC236}">
                      <a16:creationId xmlns:a16="http://schemas.microsoft.com/office/drawing/2014/main" id="{C50758B9-7292-558F-5EA2-3E81A0DB11D4}"/>
                    </a:ext>
                  </a:extLst>
                </p:cNvPr>
                <p:cNvSpPr/>
                <p:nvPr/>
              </p:nvSpPr>
              <p:spPr>
                <a:xfrm>
                  <a:off x="2462022" y="24947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61" name="Shape 59">
                  <a:extLst>
                    <a:ext uri="{FF2B5EF4-FFF2-40B4-BE49-F238E27FC236}">
                      <a16:creationId xmlns:a16="http://schemas.microsoft.com/office/drawing/2014/main" id="{E49FE884-B1C5-7DBD-9203-2E10F7400B5F}"/>
                    </a:ext>
                  </a:extLst>
                </p:cNvPr>
                <p:cNvSpPr/>
                <p:nvPr/>
              </p:nvSpPr>
              <p:spPr>
                <a:xfrm>
                  <a:off x="2798064" y="25557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</p:grp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07EEE40-4A9D-2F18-A84D-DF89E4FBC027}"/>
              </a:ext>
            </a:extLst>
          </p:cNvPr>
          <p:cNvGrpSpPr/>
          <p:nvPr/>
        </p:nvGrpSpPr>
        <p:grpSpPr>
          <a:xfrm>
            <a:off x="5166870" y="2733579"/>
            <a:ext cx="3474720" cy="1936382"/>
            <a:chOff x="5257800" y="1269512"/>
            <a:chExt cx="3474720" cy="1936382"/>
          </a:xfrm>
        </p:grpSpPr>
        <p:sp>
          <p:nvSpPr>
            <p:cNvPr id="78" name="Text 5">
              <a:extLst>
                <a:ext uri="{FF2B5EF4-FFF2-40B4-BE49-F238E27FC236}">
                  <a16:creationId xmlns:a16="http://schemas.microsoft.com/office/drawing/2014/main" id="{496E00E9-5220-0192-1429-FE06982CBB56}"/>
                </a:ext>
              </a:extLst>
            </p:cNvPr>
            <p:cNvSpPr/>
            <p:nvPr/>
          </p:nvSpPr>
          <p:spPr>
            <a:xfrm>
              <a:off x="5349240" y="1269512"/>
              <a:ext cx="3383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Por </a:t>
              </a:r>
              <a:r>
                <a:rPr lang="en-US" sz="1100" b="1" err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edad</a:t>
              </a:r>
              <a:r>
                <a:rPr lang="en-US" sz="1100" b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(UE-27)</a:t>
              </a:r>
              <a:endParaRPr lang="en-US" sz="1100">
                <a:latin typeface="EYInterstate" panose="02000503020000020004" pitchFamily="2" charset="0"/>
              </a:endParaRPr>
            </a:p>
          </p:txBody>
        </p:sp>
        <p:graphicFrame>
          <p:nvGraphicFramePr>
            <p:cNvPr id="80" name="Chart 1">
              <a:extLst>
                <a:ext uri="{FF2B5EF4-FFF2-40B4-BE49-F238E27FC236}">
                  <a16:creationId xmlns:a16="http://schemas.microsoft.com/office/drawing/2014/main" id="{AE8CBC77-E63D-8ED0-4A98-9C8C6E40E90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30008505"/>
                </p:ext>
              </p:extLst>
            </p:nvPr>
          </p:nvGraphicFramePr>
          <p:xfrm>
            <a:off x="5257800" y="1408176"/>
            <a:ext cx="3474720" cy="179771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A36B985-7233-59BB-8EBC-1969A47A5784}"/>
              </a:ext>
            </a:extLst>
          </p:cNvPr>
          <p:cNvGrpSpPr/>
          <p:nvPr/>
        </p:nvGrpSpPr>
        <p:grpSpPr>
          <a:xfrm>
            <a:off x="5226983" y="2062258"/>
            <a:ext cx="3354494" cy="549338"/>
            <a:chOff x="5310724" y="3797255"/>
            <a:chExt cx="3354494" cy="755709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D37F6BC-813B-D738-D2A1-D5082A1B9A2B}"/>
                </a:ext>
              </a:extLst>
            </p:cNvPr>
            <p:cNvGrpSpPr/>
            <p:nvPr/>
          </p:nvGrpSpPr>
          <p:grpSpPr>
            <a:xfrm>
              <a:off x="5310724" y="3810973"/>
              <a:ext cx="3354494" cy="728273"/>
              <a:chOff x="5310724" y="3594739"/>
              <a:chExt cx="3354494" cy="930790"/>
            </a:xfrm>
          </p:grpSpPr>
          <p:sp>
            <p:nvSpPr>
              <p:cNvPr id="84" name="Shape 6">
                <a:extLst>
                  <a:ext uri="{FF2B5EF4-FFF2-40B4-BE49-F238E27FC236}">
                    <a16:creationId xmlns:a16="http://schemas.microsoft.com/office/drawing/2014/main" id="{06CA1FC4-012D-C455-204C-95CE79EF0033}"/>
                  </a:ext>
                </a:extLst>
              </p:cNvPr>
              <p:cNvSpPr/>
              <p:nvPr/>
            </p:nvSpPr>
            <p:spPr>
              <a:xfrm>
                <a:off x="5327658" y="3594739"/>
                <a:ext cx="3337560" cy="930790"/>
              </a:xfrm>
              <a:prstGeom prst="rect">
                <a:avLst/>
              </a:prstGeom>
              <a:solidFill>
                <a:srgbClr val="F6F6FA"/>
              </a:solidFill>
              <a:ln w="12700">
                <a:solidFill>
                  <a:srgbClr val="F6F6FA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86" name="Shape 7">
                <a:extLst>
                  <a:ext uri="{FF2B5EF4-FFF2-40B4-BE49-F238E27FC236}">
                    <a16:creationId xmlns:a16="http://schemas.microsoft.com/office/drawing/2014/main" id="{27916D45-B951-1105-A29F-B5B9EAD8C087}"/>
                  </a:ext>
                </a:extLst>
              </p:cNvPr>
              <p:cNvSpPr/>
              <p:nvPr/>
            </p:nvSpPr>
            <p:spPr>
              <a:xfrm>
                <a:off x="5310724" y="3594739"/>
                <a:ext cx="54739" cy="930790"/>
              </a:xfrm>
              <a:prstGeom prst="rect">
                <a:avLst/>
              </a:prstGeom>
              <a:solidFill>
                <a:srgbClr val="FFE600"/>
              </a:solidFill>
              <a:ln w="12700">
                <a:solidFill>
                  <a:srgbClr val="FFE600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88" name="Text 8">
              <a:extLst>
                <a:ext uri="{FF2B5EF4-FFF2-40B4-BE49-F238E27FC236}">
                  <a16:creationId xmlns:a16="http://schemas.microsoft.com/office/drawing/2014/main" id="{B8B1EAA8-F4B0-17B0-09A0-B16535812EC9}"/>
                </a:ext>
              </a:extLst>
            </p:cNvPr>
            <p:cNvSpPr/>
            <p:nvPr/>
          </p:nvSpPr>
          <p:spPr>
            <a:xfrm>
              <a:off x="5467359" y="3797255"/>
              <a:ext cx="3108960" cy="7557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España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está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por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encima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la media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en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ambas variables</a:t>
              </a:r>
              <a:endParaRPr lang="en-US" sz="950">
                <a:latin typeface="EYInterstate" panose="02000503020000020004" pitchFamily="2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84B0CF4-B7B4-686A-DE43-279EC7FD1604}"/>
              </a:ext>
            </a:extLst>
          </p:cNvPr>
          <p:cNvGrpSpPr/>
          <p:nvPr/>
        </p:nvGrpSpPr>
        <p:grpSpPr>
          <a:xfrm>
            <a:off x="6412586" y="1124784"/>
            <a:ext cx="983288" cy="815616"/>
            <a:chOff x="6172200" y="1360656"/>
            <a:chExt cx="983288" cy="815616"/>
          </a:xfrm>
        </p:grpSpPr>
        <p:sp>
          <p:nvSpPr>
            <p:cNvPr id="90" name="Text 60">
              <a:extLst>
                <a:ext uri="{FF2B5EF4-FFF2-40B4-BE49-F238E27FC236}">
                  <a16:creationId xmlns:a16="http://schemas.microsoft.com/office/drawing/2014/main" id="{9EA4AAE8-1D31-5C90-FC9D-52A7B9E8B7B8}"/>
                </a:ext>
              </a:extLst>
            </p:cNvPr>
            <p:cNvSpPr/>
            <p:nvPr/>
          </p:nvSpPr>
          <p:spPr>
            <a:xfrm>
              <a:off x="6172200" y="1360656"/>
              <a:ext cx="98328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0,78</a:t>
              </a:r>
              <a:endParaRPr lang="en-US" sz="3000">
                <a:latin typeface="EYInterstate" panose="02000503020000020004" pitchFamily="2" charset="0"/>
              </a:endParaRPr>
            </a:p>
          </p:txBody>
        </p:sp>
        <p:sp>
          <p:nvSpPr>
            <p:cNvPr id="91" name="Text 61">
              <a:extLst>
                <a:ext uri="{FF2B5EF4-FFF2-40B4-BE49-F238E27FC236}">
                  <a16:creationId xmlns:a16="http://schemas.microsoft.com/office/drawing/2014/main" id="{09A8A6F7-FC7C-8331-E8D9-37AD5BCA0B27}"/>
                </a:ext>
              </a:extLst>
            </p:cNvPr>
            <p:cNvSpPr/>
            <p:nvPr/>
          </p:nvSpPr>
          <p:spPr>
            <a:xfrm>
              <a:off x="6172200" y="1856232"/>
              <a:ext cx="93756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50" err="1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Correlación</a:t>
              </a:r>
              <a:r>
                <a:rPr lang="en-US" sz="850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UE </a:t>
              </a:r>
              <a:r>
                <a:rPr lang="en-US" sz="850" err="1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competencias-uso</a:t>
              </a:r>
              <a:endParaRPr lang="en-US" sz="850">
                <a:latin typeface="EYInterstate" panose="02000503020000020004" pitchFamily="2" charset="0"/>
              </a:endParaRPr>
            </a:p>
          </p:txBody>
        </p:sp>
      </p:grpSp>
      <p:sp>
        <p:nvSpPr>
          <p:cNvPr id="63" name="Text 44">
            <a:extLst>
              <a:ext uri="{FF2B5EF4-FFF2-40B4-BE49-F238E27FC236}">
                <a16:creationId xmlns:a16="http://schemas.microsoft.com/office/drawing/2014/main" id="{2372A9C3-BC2C-736D-A808-948397456144}"/>
              </a:ext>
            </a:extLst>
          </p:cNvPr>
          <p:cNvSpPr/>
          <p:nvPr/>
        </p:nvSpPr>
        <p:spPr>
          <a:xfrm>
            <a:off x="2160239" y="2070405"/>
            <a:ext cx="783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1A1A24"/>
                </a:solidFill>
                <a:latin typeface="EYInterstate" panose="02000503020000020004" pitchFamily="2" charset="0"/>
                <a:cs typeface="Arial" pitchFamily="34" charset="-120"/>
              </a:rPr>
              <a:t>Lithuania</a:t>
            </a:r>
            <a:endParaRPr lang="en-US" sz="700">
              <a:latin typeface="EYInterstate" panose="02000503020000020004" pitchFamily="2" charset="0"/>
            </a:endParaRPr>
          </a:p>
        </p:txBody>
      </p:sp>
      <p:pic>
        <p:nvPicPr>
          <p:cNvPr id="67" name="Picture 66" descr="Unitree Robotics | Quadruped robots | Invelon Technologies">
            <a:extLst>
              <a:ext uri="{FF2B5EF4-FFF2-40B4-BE49-F238E27FC236}">
                <a16:creationId xmlns:a16="http://schemas.microsoft.com/office/drawing/2014/main" id="{007340A1-EC98-2B44-97EB-7965FA8B9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198" y="4766052"/>
            <a:ext cx="809554" cy="19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6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5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 · CALIDAD → USO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Las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mejores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se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más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pesa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menos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que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las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Fuente: Comisión Europea, eGovernment Benchmark 2025 (Overall Score); Eurostat, 2025. Cada punto es un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líneas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discontinuas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= media UE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EY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  6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AE1C9EF-DCB5-8940-116E-D2D65F36E2C6}"/>
              </a:ext>
            </a:extLst>
          </p:cNvPr>
          <p:cNvGrpSpPr/>
          <p:nvPr/>
        </p:nvGrpSpPr>
        <p:grpSpPr>
          <a:xfrm>
            <a:off x="5806998" y="2693750"/>
            <a:ext cx="2514600" cy="1229868"/>
            <a:chOff x="5750383" y="2654118"/>
            <a:chExt cx="2514600" cy="1229868"/>
          </a:xfrm>
        </p:grpSpPr>
        <p:sp>
          <p:nvSpPr>
            <p:cNvPr id="64" name="Shape 62"/>
            <p:cNvSpPr/>
            <p:nvPr/>
          </p:nvSpPr>
          <p:spPr>
            <a:xfrm>
              <a:off x="5750383" y="2654118"/>
              <a:ext cx="2514600" cy="1229868"/>
            </a:xfrm>
            <a:prstGeom prst="rect">
              <a:avLst/>
            </a:prstGeom>
            <a:solidFill>
              <a:srgbClr val="FFE600"/>
            </a:solidFill>
            <a:ln w="12700">
              <a:solidFill>
                <a:srgbClr val="FFE6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65" name="Text 63"/>
            <p:cNvSpPr/>
            <p:nvPr/>
          </p:nvSpPr>
          <p:spPr>
            <a:xfrm>
              <a:off x="5914975" y="2860593"/>
              <a:ext cx="2185416" cy="8169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Las personas </a:t>
              </a:r>
              <a:r>
                <a:rPr kumimoji="0" lang="en-US" sz="1300" b="1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influyen</a:t>
              </a: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1300" b="1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más</a:t>
              </a: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1300" b="1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que</a:t>
              </a: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l</a:t>
              </a:r>
              <a:r>
                <a:rPr lang="en-US" sz="1300" b="1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as </a:t>
              </a:r>
              <a:r>
                <a:rPr lang="en-US" sz="1300" b="1" err="1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plataformas</a:t>
              </a: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Ningún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país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con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buena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plataforma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tiene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poco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uso</a:t>
              </a: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3C8585F-3C23-815D-47B8-266F04EC2D19}"/>
              </a:ext>
            </a:extLst>
          </p:cNvPr>
          <p:cNvGrpSpPr/>
          <p:nvPr/>
        </p:nvGrpSpPr>
        <p:grpSpPr>
          <a:xfrm>
            <a:off x="360629" y="1327781"/>
            <a:ext cx="5238196" cy="3072384"/>
            <a:chOff x="709567" y="1517904"/>
            <a:chExt cx="5536882" cy="3072384"/>
          </a:xfrm>
        </p:grpSpPr>
        <p:sp>
          <p:nvSpPr>
            <p:cNvPr id="8" name="Shape 6"/>
            <p:cNvSpPr/>
            <p:nvPr/>
          </p:nvSpPr>
          <p:spPr>
            <a:xfrm>
              <a:off x="1280160" y="4206240"/>
              <a:ext cx="4480560" cy="0"/>
            </a:xfrm>
            <a:prstGeom prst="line">
              <a:avLst/>
            </a:prstGeom>
            <a:noFill/>
            <a:ln w="9525">
              <a:solidFill>
                <a:srgbClr val="74748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1280160" y="1600200"/>
              <a:ext cx="0" cy="2606040"/>
            </a:xfrm>
            <a:prstGeom prst="line">
              <a:avLst/>
            </a:prstGeom>
            <a:noFill/>
            <a:ln w="9525">
              <a:solidFill>
                <a:srgbClr val="74748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453896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50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350008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60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246120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70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4142232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80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038344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90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868680" y="383438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20%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868680" y="325526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40%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868680" y="267614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60%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868680" y="209702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80%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868680" y="151790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100%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280160" y="4407408"/>
              <a:ext cx="4480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 err="1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Puntuación</a:t>
              </a: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kumimoji="0" lang="en-US" sz="750" b="1" i="0" u="none" strike="noStrike" kern="1200" cap="none" spc="0" normalizeH="0" baseline="0" noProof="0" err="1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calidad</a:t>
              </a: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la </a:t>
              </a:r>
              <a:r>
                <a:rPr kumimoji="0" lang="en-US" sz="750" b="1" i="0" u="none" strike="noStrike" kern="1200" cap="none" spc="0" normalizeH="0" baseline="0" noProof="0" err="1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plataforma</a:t>
              </a: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(0-100)</a:t>
              </a:r>
              <a:endParaRPr kumimoji="0" lang="en-US" sz="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709567" y="1679434"/>
              <a:ext cx="228600" cy="2606040"/>
            </a:xfrm>
            <a:prstGeom prst="rect">
              <a:avLst/>
            </a:prstGeom>
            <a:noFill/>
            <a:ln/>
          </p:spPr>
          <p:txBody>
            <a:bodyPr vert="vert270"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(%) Uso Administración online</a:t>
              </a:r>
              <a:endParaRPr kumimoji="0" lang="en-US" sz="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3942509" y="1600200"/>
              <a:ext cx="0" cy="2606040"/>
            </a:xfrm>
            <a:prstGeom prst="line">
              <a:avLst/>
            </a:prstGeom>
            <a:noFill/>
            <a:ln w="9525">
              <a:solidFill>
                <a:srgbClr val="C4C4CD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1280160" y="2825039"/>
              <a:ext cx="4480560" cy="0"/>
            </a:xfrm>
            <a:prstGeom prst="line">
              <a:avLst/>
            </a:prstGeom>
            <a:noFill/>
            <a:ln w="9525">
              <a:solidFill>
                <a:srgbClr val="C4C4CD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4572000" y="2642159"/>
              <a:ext cx="118872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Media UE</a:t>
              </a:r>
              <a:endParaRPr kumimoji="0" lang="en-US" sz="6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 flipV="1">
              <a:off x="1459382" y="2090003"/>
              <a:ext cx="4059387" cy="1388093"/>
            </a:xfrm>
            <a:prstGeom prst="line">
              <a:avLst/>
            </a:prstGeom>
            <a:noFill/>
            <a:ln w="12700">
              <a:solidFill>
                <a:srgbClr val="2E2E38"/>
              </a:solidFill>
              <a:prstDash val="sysDot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4169115" y="181051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3622487" y="2285390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4160154" y="2018995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5199644" y="2039264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5217566" y="2259330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3783787" y="2433066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3488070" y="2519934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3093781" y="2464918"/>
              <a:ext cx="100584" cy="100584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5468478" y="2569159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4635094" y="2629967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4545482" y="267919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2789103" y="2965856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2681569" y="2878988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3837554" y="3122219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4886005" y="2372258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4778472" y="2401214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3703137" y="2282495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2636764" y="253441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3873398" y="2635758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3004170" y="267919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5208605" y="1801825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5332049" y="1669237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Finlandia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4518599" y="1987144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4642043" y="1854556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Países Bajos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4258178" y="2608326"/>
              <a:ext cx="155448" cy="155448"/>
            </a:xfrm>
            <a:prstGeom prst="ellipse">
              <a:avLst/>
            </a:prstGeom>
            <a:solidFill>
              <a:srgbClr val="FFE600"/>
            </a:solidFill>
            <a:ln w="12700">
              <a:solidFill>
                <a:srgbClr val="1A1A24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4409054" y="2503170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España</a:t>
              </a:r>
              <a:endPara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3183392" y="2844241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3306836" y="2940253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Croacia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3434304" y="3188818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3557748" y="3056230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Italia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6" name="Shape 54"/>
            <p:cNvSpPr/>
            <p:nvPr/>
          </p:nvSpPr>
          <p:spPr>
            <a:xfrm>
              <a:off x="3281964" y="3678174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7" name="Text 55"/>
            <p:cNvSpPr/>
            <p:nvPr/>
          </p:nvSpPr>
          <p:spPr>
            <a:xfrm>
              <a:off x="3405408" y="3545586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Bulgaria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1409090" y="3973525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9" name="Text 57"/>
            <p:cNvSpPr/>
            <p:nvPr/>
          </p:nvSpPr>
          <p:spPr>
            <a:xfrm>
              <a:off x="1532534" y="3840937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Rumanía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67" name="Text 55">
              <a:extLst>
                <a:ext uri="{FF2B5EF4-FFF2-40B4-BE49-F238E27FC236}">
                  <a16:creationId xmlns:a16="http://schemas.microsoft.com/office/drawing/2014/main" id="{5C0C889D-8AD5-D64A-A9BE-51DC2549FF53}"/>
                </a:ext>
              </a:extLst>
            </p:cNvPr>
            <p:cNvSpPr/>
            <p:nvPr/>
          </p:nvSpPr>
          <p:spPr>
            <a:xfrm>
              <a:off x="2977816" y="2322468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>
                  <a:solidFill>
                    <a:srgbClr val="1A1A24"/>
                  </a:solidFill>
                  <a:latin typeface="EYInterstate" panose="02000503020000020004" pitchFamily="2" charset="0"/>
                  <a:cs typeface="Arial" pitchFamily="34" charset="-120"/>
                </a:rPr>
                <a:t>France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B7BEF80-11D7-7E51-1903-8AA02002396A}"/>
              </a:ext>
            </a:extLst>
          </p:cNvPr>
          <p:cNvGrpSpPr/>
          <p:nvPr/>
        </p:nvGrpSpPr>
        <p:grpSpPr>
          <a:xfrm>
            <a:off x="5586719" y="1682765"/>
            <a:ext cx="2955159" cy="657361"/>
            <a:chOff x="5586719" y="1682765"/>
            <a:chExt cx="2955159" cy="657361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4A60210B-5E2C-A3B0-5231-1C1A153FD876}"/>
                </a:ext>
              </a:extLst>
            </p:cNvPr>
            <p:cNvGrpSpPr/>
            <p:nvPr/>
          </p:nvGrpSpPr>
          <p:grpSpPr>
            <a:xfrm>
              <a:off x="5586719" y="1682765"/>
              <a:ext cx="1197266" cy="657361"/>
              <a:chOff x="6014729" y="1721675"/>
              <a:chExt cx="1197266" cy="657361"/>
            </a:xfrm>
          </p:grpSpPr>
          <p:sp>
            <p:nvSpPr>
              <p:cNvPr id="69" name="Text 56">
                <a:extLst>
                  <a:ext uri="{FF2B5EF4-FFF2-40B4-BE49-F238E27FC236}">
                    <a16:creationId xmlns:a16="http://schemas.microsoft.com/office/drawing/2014/main" id="{BD611B17-F86D-0283-2E0C-89269618F2BF}"/>
                  </a:ext>
                </a:extLst>
              </p:cNvPr>
              <p:cNvSpPr/>
              <p:nvPr/>
            </p:nvSpPr>
            <p:spPr>
              <a:xfrm>
                <a:off x="6014729" y="1721675"/>
                <a:ext cx="1197266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ctr">
                  <a:buNone/>
                </a:pPr>
                <a:r>
                  <a:rPr lang="en-US" sz="3000" b="1">
                    <a:solidFill>
                      <a:srgbClr val="1A1A24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0,65</a:t>
                </a:r>
                <a:endParaRPr lang="en-US" sz="3000">
                  <a:latin typeface="EYInterstate" panose="02000503020000020004" pitchFamily="2" charset="0"/>
                </a:endParaRPr>
              </a:p>
            </p:txBody>
          </p:sp>
          <p:sp>
            <p:nvSpPr>
              <p:cNvPr id="70" name="Text 57">
                <a:extLst>
                  <a:ext uri="{FF2B5EF4-FFF2-40B4-BE49-F238E27FC236}">
                    <a16:creationId xmlns:a16="http://schemas.microsoft.com/office/drawing/2014/main" id="{871D1AE9-8774-B3BE-BAB5-F938B914C8A6}"/>
                  </a:ext>
                </a:extLst>
              </p:cNvPr>
              <p:cNvSpPr/>
              <p:nvPr/>
            </p:nvSpPr>
            <p:spPr>
              <a:xfrm>
                <a:off x="6014729" y="2248598"/>
                <a:ext cx="1197266" cy="1304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Correlación </a:t>
                </a:r>
                <a:r>
                  <a:rPr lang="en-US" sz="850" err="1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calidad-uso</a:t>
                </a:r>
                <a:endParaRPr lang="en-US" sz="850">
                  <a:latin typeface="EYInterstate" panose="02000503020000020004" pitchFamily="2" charset="0"/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2AFAA06-2682-7B4D-89D3-5923D9B46AF5}"/>
                </a:ext>
              </a:extLst>
            </p:cNvPr>
            <p:cNvGrpSpPr/>
            <p:nvPr/>
          </p:nvGrpSpPr>
          <p:grpSpPr>
            <a:xfrm>
              <a:off x="7344612" y="1684595"/>
              <a:ext cx="1197266" cy="653701"/>
              <a:chOff x="7493767" y="1721675"/>
              <a:chExt cx="1197266" cy="653701"/>
            </a:xfrm>
          </p:grpSpPr>
          <p:sp>
            <p:nvSpPr>
              <p:cNvPr id="72" name="Text 58">
                <a:extLst>
                  <a:ext uri="{FF2B5EF4-FFF2-40B4-BE49-F238E27FC236}">
                    <a16:creationId xmlns:a16="http://schemas.microsoft.com/office/drawing/2014/main" id="{E10E428E-0B07-DB36-AC87-EE8E398C750D}"/>
                  </a:ext>
                </a:extLst>
              </p:cNvPr>
              <p:cNvSpPr/>
              <p:nvPr/>
            </p:nvSpPr>
            <p:spPr>
              <a:xfrm>
                <a:off x="7493767" y="1721675"/>
                <a:ext cx="1197266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ctr">
                  <a:buNone/>
                </a:pPr>
                <a:r>
                  <a:rPr lang="en-US" sz="3000" b="1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0,78</a:t>
                </a:r>
                <a:endParaRPr lang="en-US" sz="3000">
                  <a:latin typeface="EYInterstate" panose="02000503020000020004" pitchFamily="2" charset="0"/>
                </a:endParaRPr>
              </a:p>
            </p:txBody>
          </p:sp>
          <p:sp>
            <p:nvSpPr>
              <p:cNvPr id="73" name="Text 59">
                <a:extLst>
                  <a:ext uri="{FF2B5EF4-FFF2-40B4-BE49-F238E27FC236}">
                    <a16:creationId xmlns:a16="http://schemas.microsoft.com/office/drawing/2014/main" id="{D8B0818A-C576-4086-9ACF-22E4BE065DD7}"/>
                  </a:ext>
                </a:extLst>
              </p:cNvPr>
              <p:cNvSpPr/>
              <p:nvPr/>
            </p:nvSpPr>
            <p:spPr>
              <a:xfrm>
                <a:off x="7493767" y="2234882"/>
                <a:ext cx="1197266" cy="14049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 err="1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Competencias-uso</a:t>
                </a:r>
                <a:r>
                  <a:rPr lang="en-US" sz="850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 (P2)</a:t>
                </a:r>
                <a:endParaRPr lang="en-US" sz="850">
                  <a:latin typeface="EYInterstate" panose="02000503020000020004" pitchFamily="2" charset="0"/>
                </a:endParaRPr>
              </a:p>
            </p:txBody>
          </p:sp>
        </p:grpSp>
        <p:sp>
          <p:nvSpPr>
            <p:cNvPr id="74" name="Text 56">
              <a:extLst>
                <a:ext uri="{FF2B5EF4-FFF2-40B4-BE49-F238E27FC236}">
                  <a16:creationId xmlns:a16="http://schemas.microsoft.com/office/drawing/2014/main" id="{502707F8-2C56-0C01-86B0-8377CF62F073}"/>
                </a:ext>
              </a:extLst>
            </p:cNvPr>
            <p:cNvSpPr/>
            <p:nvPr/>
          </p:nvSpPr>
          <p:spPr>
            <a:xfrm>
              <a:off x="6940601" y="1759985"/>
              <a:ext cx="24739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>
                  <a:solidFill>
                    <a:srgbClr val="747480"/>
                  </a:solidFill>
                  <a:latin typeface="EYInterstate" panose="02000503020000020004" pitchFamily="2" charset="0"/>
                </a:rPr>
                <a:t>&lt;</a:t>
              </a:r>
            </a:p>
          </p:txBody>
        </p:sp>
      </p:grpSp>
      <p:pic>
        <p:nvPicPr>
          <p:cNvPr id="61" name="Picture 60" descr="Unitree Robotics | Quadruped robots | Invelon Technologies">
            <a:extLst>
              <a:ext uri="{FF2B5EF4-FFF2-40B4-BE49-F238E27FC236}">
                <a16:creationId xmlns:a16="http://schemas.microsoft.com/office/drawing/2014/main" id="{D219E4A7-B441-104A-8799-AF3467CD1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198" y="4766052"/>
            <a:ext cx="809554" cy="1942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757D-6B0F-CAF5-6ACC-E2ED3D36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074FE9-A758-BD12-89A3-29A8156EACD1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1719F0-FE16-A412-F53F-1E50DA3C3E73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CONCLUSIONES Y RECOMENDACIONES</a:t>
            </a:r>
            <a:endParaRPr lang="en-US" sz="850" dirty="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CE3695-867B-A631-006C-106F202B34C4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2000">
                <a:solidFill>
                  <a:srgbClr val="1A1A24"/>
                </a:solidFill>
                <a:latin typeface="EYInterstate"/>
                <a:ea typeface="Arial" pitchFamily="34" charset="-122"/>
                <a:cs typeface="Arial"/>
              </a:rPr>
              <a:t>El uso de la Administración digital depende más de las personas que de la plataforma</a:t>
            </a:r>
            <a:endParaRPr lang="es-ES" sz="2000">
              <a:solidFill>
                <a:srgbClr val="000000"/>
              </a:solidFill>
              <a:latin typeface="EYInterstate"/>
              <a:ea typeface="Arial" pitchFamily="34" charset="-122"/>
              <a:cs typeface="Arial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9BF162-88BF-BBF5-C65A-696B3E730C6A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6697E1-D953-9C45-4861-A7DE03142CA6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</a:t>
            </a:r>
            <a:endParaRPr lang="en-US" sz="80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4D28765D-172B-5B83-DDB6-939F568FD739}"/>
              </a:ext>
            </a:extLst>
          </p:cNvPr>
          <p:cNvSpPr/>
          <p:nvPr/>
        </p:nvSpPr>
        <p:spPr>
          <a:xfrm>
            <a:off x="118872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249FC4E2-6FF7-2D5B-4299-D9B02FD1B174}"/>
              </a:ext>
            </a:extLst>
          </p:cNvPr>
          <p:cNvSpPr/>
          <p:nvPr/>
        </p:nvSpPr>
        <p:spPr>
          <a:xfrm>
            <a:off x="129844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Dato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C7187B2A-69FE-8A28-6C7D-9FF81499A17D}"/>
              </a:ext>
            </a:extLst>
          </p:cNvPr>
          <p:cNvSpPr/>
          <p:nvPr/>
        </p:nvSpPr>
        <p:spPr>
          <a:xfrm>
            <a:off x="361188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60958626-EB34-7F36-29C3-009D97A6B391}"/>
              </a:ext>
            </a:extLst>
          </p:cNvPr>
          <p:cNvSpPr/>
          <p:nvPr/>
        </p:nvSpPr>
        <p:spPr>
          <a:xfrm>
            <a:off x="372160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76579E11-91E5-065E-6A92-3E461D90AC48}"/>
              </a:ext>
            </a:extLst>
          </p:cNvPr>
          <p:cNvSpPr/>
          <p:nvPr/>
        </p:nvSpPr>
        <p:spPr>
          <a:xfrm>
            <a:off x="6035040" y="1371600"/>
            <a:ext cx="2651760" cy="3657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B8BE4371-1E5D-F994-91FA-A37F97AC868B}"/>
              </a:ext>
            </a:extLst>
          </p:cNvPr>
          <p:cNvSpPr/>
          <p:nvPr/>
        </p:nvSpPr>
        <p:spPr>
          <a:xfrm>
            <a:off x="6144768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ECFE4FE6-B264-D5B1-423C-ABB7DB0AFFEC}"/>
              </a:ext>
            </a:extLst>
          </p:cNvPr>
          <p:cNvSpPr/>
          <p:nvPr/>
        </p:nvSpPr>
        <p:spPr>
          <a:xfrm>
            <a:off x="457200" y="184708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933F70D3-0977-B14D-0E47-00A03980D458}"/>
              </a:ext>
            </a:extLst>
          </p:cNvPr>
          <p:cNvSpPr/>
          <p:nvPr/>
        </p:nvSpPr>
        <p:spPr>
          <a:xfrm>
            <a:off x="457200" y="1847088"/>
            <a:ext cx="800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s-ES" sz="600">
                <a:solidFill>
                  <a:srgbClr val="747480"/>
                </a:solidFill>
                <a:latin typeface="EYInterstate"/>
                <a:cs typeface="Arial"/>
              </a:rPr>
              <a:t>Calidad</a:t>
            </a:r>
            <a:endParaRPr lang="en-US" sz="600">
              <a:solidFill>
                <a:srgbClr val="747480"/>
              </a:solidFill>
              <a:latin typeface="EYInterstate"/>
              <a:cs typeface="Arial"/>
            </a:endParaRP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41E60497-78F0-492E-FC95-B1FBE9C9FCEB}"/>
              </a:ext>
            </a:extLst>
          </p:cNvPr>
          <p:cNvSpPr/>
          <p:nvPr/>
        </p:nvSpPr>
        <p:spPr>
          <a:xfrm>
            <a:off x="129844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b="1">
                <a:solidFill>
                  <a:srgbClr val="1A1A24"/>
                </a:solidFill>
                <a:latin typeface="EYInterstate"/>
                <a:ea typeface="Arial" pitchFamily="34" charset="-122"/>
                <a:cs typeface="Arial"/>
              </a:rPr>
              <a:t>98,5  vs  53,8</a:t>
            </a:r>
            <a:endParaRPr lang="es-ES"/>
          </a:p>
          <a:p>
            <a:pPr>
              <a:spcBef>
                <a:spcPts val="200"/>
              </a:spcBef>
            </a:pPr>
            <a:endParaRPr lang="es-ES" sz="850">
              <a:solidFill>
                <a:srgbClr val="747480"/>
              </a:solidFill>
              <a:latin typeface="EYInterstate"/>
              <a:cs typeface="Arial"/>
            </a:endParaRPr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06F318DB-AED0-9047-8778-157279B02950}"/>
              </a:ext>
            </a:extLst>
          </p:cNvPr>
          <p:cNvSpPr/>
          <p:nvPr/>
        </p:nvSpPr>
        <p:spPr>
          <a:xfrm>
            <a:off x="372160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trámite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está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online,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no es claro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ni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accesible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todos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982B3D62-C472-6B02-A7BF-1C07C571A5F7}"/>
              </a:ext>
            </a:extLst>
          </p:cNvPr>
          <p:cNvSpPr/>
          <p:nvPr/>
        </p:nvSpPr>
        <p:spPr>
          <a:xfrm>
            <a:off x="6144768" y="184708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Revisar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accesibilidad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plazos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trámites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más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usados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A4A64B3C-F733-69E6-1040-70F118E41DC7}"/>
              </a:ext>
            </a:extLst>
          </p:cNvPr>
          <p:cNvSpPr/>
          <p:nvPr/>
        </p:nvSpPr>
        <p:spPr>
          <a:xfrm>
            <a:off x="457200" y="2807208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120E8EC3-C3A5-6908-D554-A3D1C70D7C3C}"/>
              </a:ext>
            </a:extLst>
          </p:cNvPr>
          <p:cNvSpPr/>
          <p:nvPr/>
        </p:nvSpPr>
        <p:spPr>
          <a:xfrm>
            <a:off x="457200" y="2807208"/>
            <a:ext cx="800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s-ES" sz="600">
                <a:solidFill>
                  <a:srgbClr val="747480"/>
                </a:solidFill>
                <a:latin typeface="EYInterstate"/>
                <a:cs typeface="Arial"/>
              </a:rPr>
              <a:t>Competencias-uso</a:t>
            </a:r>
            <a:endParaRPr lang="en-US" sz="600">
              <a:latin typeface="EYInterstate" panose="02000503020000020004" pitchFamily="2" charset="0"/>
            </a:endParaRPr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53490BB5-13A3-1234-FF0F-F8EBAFD34458}"/>
              </a:ext>
            </a:extLst>
          </p:cNvPr>
          <p:cNvSpPr/>
          <p:nvPr/>
        </p:nvSpPr>
        <p:spPr>
          <a:xfrm>
            <a:off x="129844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 = 0,78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Competencias–uso. Solo el 43 % de los +55 tiene competencias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F40C1F6B-E4FD-8076-1F37-31E03E52F2BC}"/>
              </a:ext>
            </a:extLst>
          </p:cNvPr>
          <p:cNvSpPr/>
          <p:nvPr/>
        </p:nvSpPr>
        <p:spPr>
          <a:xfrm>
            <a:off x="372160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mayores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necesitan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capacidad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jóvenes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un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motivo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usarla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4F009494-B372-37D4-3924-772A33D2879E}"/>
              </a:ext>
            </a:extLst>
          </p:cNvPr>
          <p:cNvSpPr/>
          <p:nvPr/>
        </p:nvSpPr>
        <p:spPr>
          <a:xfrm>
            <a:off x="6144768" y="280720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Formación para +55 y canales móviles para jóvenes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BBF00513-0D11-037B-7F15-0E1DCC080ADB}"/>
              </a:ext>
            </a:extLst>
          </p:cNvPr>
          <p:cNvSpPr/>
          <p:nvPr/>
        </p:nvSpPr>
        <p:spPr>
          <a:xfrm>
            <a:off x="457200" y="376732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AA87173F-8966-BF01-20FE-FE490D22DA24}"/>
              </a:ext>
            </a:extLst>
          </p:cNvPr>
          <p:cNvSpPr/>
          <p:nvPr/>
        </p:nvSpPr>
        <p:spPr>
          <a:xfrm>
            <a:off x="457200" y="3767328"/>
            <a:ext cx="800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s-ES" sz="600">
                <a:solidFill>
                  <a:srgbClr val="747480"/>
                </a:solidFill>
                <a:latin typeface="EYInterstate"/>
                <a:cs typeface="Arial"/>
              </a:rPr>
              <a:t>Calidad-uso</a:t>
            </a:r>
            <a:endParaRPr lang="en-US" sz="600">
              <a:solidFill>
                <a:srgbClr val="747480"/>
              </a:solidFill>
              <a:latin typeface="EYInterstate"/>
              <a:cs typeface="Arial"/>
            </a:endParaRPr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808AA589-C307-F5E9-8015-255684E6269C}"/>
              </a:ext>
            </a:extLst>
          </p:cNvPr>
          <p:cNvSpPr/>
          <p:nvPr/>
        </p:nvSpPr>
        <p:spPr>
          <a:xfrm>
            <a:off x="129844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 = 0,65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Calidad–uso: relación más débil que la de competencias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808ADC69-2F2E-8A73-A960-26EFADAD30EA}"/>
              </a:ext>
            </a:extLst>
          </p:cNvPr>
          <p:cNvSpPr/>
          <p:nvPr/>
        </p:nvSpPr>
        <p:spPr>
          <a:xfrm>
            <a:off x="372160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Mejorar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ayuda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garantiza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se use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8EA14F8C-05B1-C794-67E4-9A03AC0E49B8}"/>
              </a:ext>
            </a:extLst>
          </p:cNvPr>
          <p:cNvSpPr/>
          <p:nvPr/>
        </p:nvSpPr>
        <p:spPr>
          <a:xfrm>
            <a:off x="6144768" y="376732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Cada inversión tecnológica, con su plan de adopción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2081AEB-C28F-278A-01B5-D212E85E45D0}"/>
              </a:ext>
            </a:extLst>
          </p:cNvPr>
          <p:cNvSpPr/>
          <p:nvPr/>
        </p:nvSpPr>
        <p:spPr>
          <a:xfrm>
            <a:off x="6035040" y="1847088"/>
            <a:ext cx="2651760" cy="2788920"/>
          </a:xfrm>
          <a:prstGeom prst="rect">
            <a:avLst/>
          </a:prstGeom>
          <a:noFill/>
          <a:ln w="19050">
            <a:solidFill>
              <a:srgbClr val="FFE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40556E67-55B0-267E-9034-F193459A7AC8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Fuentes: Eurostat 2025; Comisión Europea, eGovernment Benchmark 2025.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Correlaciones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entre 27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: indican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relación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no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causalidad</a:t>
            </a:r>
            <a:endParaRPr lang="en-US" sz="700">
              <a:latin typeface="EYInterstate" panose="02000503020000020004" pitchFamily="2" charset="0"/>
            </a:endParaRPr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B83CFDA4-A655-BB30-B41A-0E82EBBD74FF}"/>
              </a:ext>
            </a:extLst>
          </p:cNvPr>
          <p:cNvSpPr/>
          <p:nvPr/>
        </p:nvSpPr>
        <p:spPr>
          <a:xfrm>
            <a:off x="1255799" y="2273581"/>
            <a:ext cx="213055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ts val="200"/>
              </a:spcBef>
            </a:pPr>
            <a:r>
              <a:rPr lang="es-ES" sz="850">
                <a:solidFill>
                  <a:srgbClr val="747480"/>
                </a:solidFill>
                <a:latin typeface="EYInterstate"/>
                <a:cs typeface="Arial"/>
              </a:rPr>
              <a:t>Disponibilidad            Accesibilidad</a:t>
            </a:r>
            <a:endParaRPr lang="en-US" sz="950">
              <a:latin typeface="EYInterstate"/>
              <a:cs typeface="Arial"/>
            </a:endParaRPr>
          </a:p>
        </p:txBody>
      </p:sp>
      <p:pic>
        <p:nvPicPr>
          <p:cNvPr id="8" name="Picture 7" descr="Unitree Robotics | Quadruped robots | Invelon Technologies">
            <a:extLst>
              <a:ext uri="{FF2B5EF4-FFF2-40B4-BE49-F238E27FC236}">
                <a16:creationId xmlns:a16="http://schemas.microsoft.com/office/drawing/2014/main" id="{AA043E77-580D-442A-E74A-0C059BBCD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198" y="4766052"/>
            <a:ext cx="809554" cy="19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406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35D1C-4280-3D74-C92E-88793B31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3F5A66-72DE-1BBF-AA6F-B5F0F29C2B2B}"/>
              </a:ext>
            </a:extLst>
          </p:cNvPr>
          <p:cNvSpPr/>
          <p:nvPr/>
        </p:nvSpPr>
        <p:spPr>
          <a:xfrm>
            <a:off x="658368" y="2268855"/>
            <a:ext cx="393192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en-US" sz="36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¡</a:t>
            </a: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Muchas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gracias!</a:t>
            </a:r>
            <a:endParaRPr lang="es-ES" sz="3600">
              <a:latin typeface="EYInterstate" panose="02000503020000020004" pitchFamily="2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FA92D6-1593-C862-350E-1BFE1670865C}"/>
              </a:ext>
            </a:extLst>
          </p:cNvPr>
          <p:cNvSpPr/>
          <p:nvPr/>
        </p:nvSpPr>
        <p:spPr>
          <a:xfrm>
            <a:off x="640080" y="3244618"/>
            <a:ext cx="3931920" cy="55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 de las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básicas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población y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Administración online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UE (2025)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1EECD8-2E32-E4B3-B8B4-CAF2D1911BEC}"/>
              </a:ext>
            </a:extLst>
          </p:cNvPr>
          <p:cNvSpPr/>
          <p:nvPr/>
        </p:nvSpPr>
        <p:spPr>
          <a:xfrm>
            <a:off x="658368" y="384891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Administraci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ón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Digital 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Europa | </a:t>
            </a: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Octubre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2026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pic>
        <p:nvPicPr>
          <p:cNvPr id="6" name="Picture 5" descr="Unitree Robotics | Quadruped robots | Invelon Technologies">
            <a:extLst>
              <a:ext uri="{FF2B5EF4-FFF2-40B4-BE49-F238E27FC236}">
                <a16:creationId xmlns:a16="http://schemas.microsoft.com/office/drawing/2014/main" id="{42135F4E-AC6B-1CC7-2696-CA1EC3A8B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33" y="4660469"/>
            <a:ext cx="1112062" cy="26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61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6D757D-6B0F-CAF5-6ACC-E2ED3D36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074FE9-A758-BD12-89A3-29A8156EACD1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1719F0-FE16-A412-F53F-1E50DA3C3E73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CONCLUSIONES Y RECOMENDACIONES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CE3695-867B-A631-006C-106F202B34C4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El uso de la Administración digital depende más de las personas que de la plataforma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9BF162-88BF-BBF5-C65A-696B3E730C6A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6697E1-D953-9C45-4861-A7DE03142CA6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</a:t>
            </a:r>
            <a:endParaRPr lang="en-US" sz="80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4D28765D-172B-5B83-DDB6-939F568FD739}"/>
              </a:ext>
            </a:extLst>
          </p:cNvPr>
          <p:cNvSpPr/>
          <p:nvPr/>
        </p:nvSpPr>
        <p:spPr>
          <a:xfrm>
            <a:off x="118872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249FC4E2-6FF7-2D5B-4299-D9B02FD1B174}"/>
              </a:ext>
            </a:extLst>
          </p:cNvPr>
          <p:cNvSpPr/>
          <p:nvPr/>
        </p:nvSpPr>
        <p:spPr>
          <a:xfrm>
            <a:off x="129844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Dato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C7187B2A-69FE-8A28-6C7D-9FF81499A17D}"/>
              </a:ext>
            </a:extLst>
          </p:cNvPr>
          <p:cNvSpPr/>
          <p:nvPr/>
        </p:nvSpPr>
        <p:spPr>
          <a:xfrm>
            <a:off x="361188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60958626-EB34-7F36-29C3-009D97A6B391}"/>
              </a:ext>
            </a:extLst>
          </p:cNvPr>
          <p:cNvSpPr/>
          <p:nvPr/>
        </p:nvSpPr>
        <p:spPr>
          <a:xfrm>
            <a:off x="372160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76579E11-91E5-065E-6A92-3E461D90AC48}"/>
              </a:ext>
            </a:extLst>
          </p:cNvPr>
          <p:cNvSpPr/>
          <p:nvPr/>
        </p:nvSpPr>
        <p:spPr>
          <a:xfrm>
            <a:off x="6035040" y="1371600"/>
            <a:ext cx="2651760" cy="3657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B8BE4371-1E5D-F994-91FA-A37F97AC868B}"/>
              </a:ext>
            </a:extLst>
          </p:cNvPr>
          <p:cNvSpPr/>
          <p:nvPr/>
        </p:nvSpPr>
        <p:spPr>
          <a:xfrm>
            <a:off x="6144768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ECFE4FE6-B264-D5B1-423C-ABB7DB0AFFEC}"/>
              </a:ext>
            </a:extLst>
          </p:cNvPr>
          <p:cNvSpPr/>
          <p:nvPr/>
        </p:nvSpPr>
        <p:spPr>
          <a:xfrm>
            <a:off x="457200" y="184708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933F70D3-0977-B14D-0E47-00A03980D458}"/>
              </a:ext>
            </a:extLst>
          </p:cNvPr>
          <p:cNvSpPr/>
          <p:nvPr/>
        </p:nvSpPr>
        <p:spPr>
          <a:xfrm>
            <a:off x="457200" y="184708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</a:t>
            </a:r>
            <a:endParaRPr lang="en-US" sz="1600">
              <a:latin typeface="EYInterstate" panose="02000503020000020004" pitchFamily="2" charset="0"/>
            </a:endParaRP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41E60497-78F0-492E-FC95-B1FBE9C9FCEB}"/>
              </a:ext>
            </a:extLst>
          </p:cNvPr>
          <p:cNvSpPr/>
          <p:nvPr/>
        </p:nvSpPr>
        <p:spPr>
          <a:xfrm>
            <a:off x="129844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Disponibilidad 98,5 vs. accesibilidad 54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06F318DB-AED0-9047-8778-157279B02950}"/>
              </a:ext>
            </a:extLst>
          </p:cNvPr>
          <p:cNvSpPr/>
          <p:nvPr/>
        </p:nvSpPr>
        <p:spPr>
          <a:xfrm>
            <a:off x="372160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950">
              <a:solidFill>
                <a:srgbClr val="2E2E38"/>
              </a:solidFill>
              <a:latin typeface="EYInterstate"/>
              <a:cs typeface="Arial"/>
            </a:endParaRPr>
          </a:p>
          <a:p>
            <a:endParaRPr lang="en-US" sz="950">
              <a:solidFill>
                <a:srgbClr val="2E2E38"/>
              </a:solidFill>
              <a:latin typeface="EYInterstate"/>
              <a:cs typeface="Arial"/>
            </a:endParaRPr>
          </a:p>
          <a:p>
            <a:r>
              <a:rPr lang="en-US" sz="950">
                <a:solidFill>
                  <a:srgbClr val="2E2E38"/>
                </a:solidFill>
                <a:latin typeface="EYInterstate"/>
                <a:cs typeface="Arial"/>
              </a:rPr>
              <a:t>El </a:t>
            </a:r>
            <a:r>
              <a:rPr lang="en-US" sz="950" err="1">
                <a:solidFill>
                  <a:srgbClr val="2E2E38"/>
                </a:solidFill>
                <a:latin typeface="EYInterstate"/>
                <a:cs typeface="Arial"/>
              </a:rPr>
              <a:t>trámite</a:t>
            </a:r>
            <a:r>
              <a:rPr lang="en-US" sz="950">
                <a:solidFill>
                  <a:srgbClr val="2E2E38"/>
                </a:solidFill>
                <a:latin typeface="EYInterstate"/>
                <a:cs typeface="Arial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/>
                <a:cs typeface="Arial"/>
              </a:rPr>
              <a:t>está</a:t>
            </a:r>
            <a:r>
              <a:rPr lang="en-US" sz="950">
                <a:solidFill>
                  <a:srgbClr val="2E2E38"/>
                </a:solidFill>
                <a:latin typeface="EYInterstate"/>
                <a:cs typeface="Arial"/>
              </a:rPr>
              <a:t> online, </a:t>
            </a:r>
            <a:r>
              <a:rPr lang="en-US" sz="950" err="1">
                <a:solidFill>
                  <a:srgbClr val="2E2E38"/>
                </a:solidFill>
                <a:latin typeface="EYInterstate"/>
                <a:cs typeface="Arial"/>
              </a:rPr>
              <a:t>pero</a:t>
            </a:r>
            <a:r>
              <a:rPr lang="en-US" sz="950">
                <a:solidFill>
                  <a:srgbClr val="2E2E38"/>
                </a:solidFill>
                <a:latin typeface="EYInterstate"/>
                <a:cs typeface="Arial"/>
              </a:rPr>
              <a:t> no es claro </a:t>
            </a:r>
            <a:r>
              <a:rPr lang="en-US" sz="950" err="1">
                <a:solidFill>
                  <a:srgbClr val="2E2E38"/>
                </a:solidFill>
                <a:latin typeface="EYInterstate"/>
                <a:cs typeface="Arial"/>
              </a:rPr>
              <a:t>ni</a:t>
            </a:r>
            <a:r>
              <a:rPr lang="en-US" sz="950">
                <a:solidFill>
                  <a:srgbClr val="2E2E38"/>
                </a:solidFill>
                <a:latin typeface="EYInterstate"/>
                <a:cs typeface="Arial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/>
                <a:cs typeface="Arial"/>
              </a:rPr>
              <a:t>accesible</a:t>
            </a:r>
            <a:r>
              <a:rPr lang="en-US" sz="950">
                <a:solidFill>
                  <a:srgbClr val="2E2E38"/>
                </a:solidFill>
                <a:latin typeface="EYInterstate"/>
                <a:cs typeface="Arial"/>
              </a:rPr>
              <a:t> para </a:t>
            </a:r>
            <a:r>
              <a:rPr lang="en-US" sz="950" err="1">
                <a:solidFill>
                  <a:srgbClr val="2E2E38"/>
                </a:solidFill>
                <a:latin typeface="EYInterstate"/>
                <a:cs typeface="Arial"/>
              </a:rPr>
              <a:t>todos</a:t>
            </a:r>
            <a:r>
              <a:rPr lang="en-US" sz="950">
                <a:solidFill>
                  <a:srgbClr val="2E2E38"/>
                </a:solidFill>
                <a:latin typeface="EYInterstate"/>
                <a:cs typeface="Arial"/>
              </a:rPr>
              <a:t>.</a:t>
            </a:r>
            <a:endParaRPr lang="en-US">
              <a:ea typeface="Calibri"/>
              <a:cs typeface="Calibri"/>
            </a:endParaRPr>
          </a:p>
          <a:p>
            <a:endParaRPr lang="en-US" sz="950">
              <a:solidFill>
                <a:srgbClr val="2E2E38"/>
              </a:solidFill>
              <a:latin typeface="EYInterstate"/>
              <a:cs typeface="Arial"/>
            </a:endParaRPr>
          </a:p>
          <a:p>
            <a:pPr marL="0" indent="0">
              <a:buNone/>
            </a:pPr>
            <a:endParaRPr lang="en-US" sz="950">
              <a:solidFill>
                <a:srgbClr val="2E2E38"/>
              </a:solidFill>
              <a:latin typeface="EYInterstate" panose="02000503020000020004" pitchFamily="2" charset="0"/>
              <a:cs typeface="Arial"/>
            </a:endParaRPr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982B3D62-C472-6B02-A7BF-1C07C571A5F7}"/>
              </a:ext>
            </a:extLst>
          </p:cNvPr>
          <p:cNvSpPr/>
          <p:nvPr/>
        </p:nvSpPr>
        <p:spPr>
          <a:xfrm>
            <a:off x="6144768" y="184708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Revisar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accesibilidad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comunicar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plazos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en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los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3 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trámites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de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más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volumen</a:t>
            </a:r>
            <a:endParaRPr lang="en-US" sz="950">
              <a:latin typeface="EYInterstate"/>
              <a:cs typeface="Arial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A4A64B3C-F733-69E6-1040-70F118E41DC7}"/>
              </a:ext>
            </a:extLst>
          </p:cNvPr>
          <p:cNvSpPr/>
          <p:nvPr/>
        </p:nvSpPr>
        <p:spPr>
          <a:xfrm>
            <a:off x="457200" y="2807208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120E8EC3-C3A5-6908-D554-A3D1C70D7C3C}"/>
              </a:ext>
            </a:extLst>
          </p:cNvPr>
          <p:cNvSpPr/>
          <p:nvPr/>
        </p:nvSpPr>
        <p:spPr>
          <a:xfrm>
            <a:off x="457200" y="280720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</a:t>
            </a:r>
            <a:endParaRPr lang="en-US" sz="1600">
              <a:latin typeface="EYInterstate" panose="02000503020000020004" pitchFamily="2" charset="0"/>
            </a:endParaRPr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53490BB5-13A3-1234-FF0F-F8EBAFD34458}"/>
              </a:ext>
            </a:extLst>
          </p:cNvPr>
          <p:cNvSpPr/>
          <p:nvPr/>
        </p:nvSpPr>
        <p:spPr>
          <a:xfrm>
            <a:off x="129844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 = 0,78 · solo el 43 % de los +55 tiene competencias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F40C1F6B-E4FD-8076-1F37-31E03E52F2BC}"/>
              </a:ext>
            </a:extLst>
          </p:cNvPr>
          <p:cNvSpPr/>
          <p:nvPr/>
        </p:nvSpPr>
        <p:spPr>
          <a:xfrm>
            <a:off x="372160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mayores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necesitan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capacidad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jóvenes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un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motivo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usarla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4F009494-B372-37D4-3924-772A33D2879E}"/>
              </a:ext>
            </a:extLst>
          </p:cNvPr>
          <p:cNvSpPr/>
          <p:nvPr/>
        </p:nvSpPr>
        <p:spPr>
          <a:xfrm>
            <a:off x="6144768" y="280720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Formación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acompañamiento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+55;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servicios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proactivos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móviles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jóvenes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BBF00513-0D11-037B-7F15-0E1DCC080ADB}"/>
              </a:ext>
            </a:extLst>
          </p:cNvPr>
          <p:cNvSpPr/>
          <p:nvPr/>
        </p:nvSpPr>
        <p:spPr>
          <a:xfrm>
            <a:off x="457200" y="376732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AA87173F-8966-BF01-20FE-FE490D22DA24}"/>
              </a:ext>
            </a:extLst>
          </p:cNvPr>
          <p:cNvSpPr/>
          <p:nvPr/>
        </p:nvSpPr>
        <p:spPr>
          <a:xfrm>
            <a:off x="457200" y="37673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</a:t>
            </a:r>
            <a:endParaRPr lang="en-US" sz="1600">
              <a:latin typeface="EYInterstate" panose="02000503020000020004" pitchFamily="2" charset="0"/>
            </a:endParaRPr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808AA589-C307-F5E9-8015-255684E6269C}"/>
              </a:ext>
            </a:extLst>
          </p:cNvPr>
          <p:cNvSpPr/>
          <p:nvPr/>
        </p:nvSpPr>
        <p:spPr>
          <a:xfrm>
            <a:off x="129844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 = 0,65, más débil que competencias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808ADC69-2F2E-8A73-A960-26EFADAD30EA}"/>
              </a:ext>
            </a:extLst>
          </p:cNvPr>
          <p:cNvSpPr/>
          <p:nvPr/>
        </p:nvSpPr>
        <p:spPr>
          <a:xfrm>
            <a:off x="372160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Mejorar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ayuda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garantiza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adopción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8EA14F8C-05B1-C794-67E4-9A03AC0E49B8}"/>
              </a:ext>
            </a:extLst>
          </p:cNvPr>
          <p:cNvSpPr/>
          <p:nvPr/>
        </p:nvSpPr>
        <p:spPr>
          <a:xfrm>
            <a:off x="6144768" y="376732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Acompañar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cada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inversión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tecnológica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con un plan de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adopción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capacitación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2081AEB-C28F-278A-01B5-D212E85E45D0}"/>
              </a:ext>
            </a:extLst>
          </p:cNvPr>
          <p:cNvSpPr/>
          <p:nvPr/>
        </p:nvSpPr>
        <p:spPr>
          <a:xfrm>
            <a:off x="6035040" y="1847088"/>
            <a:ext cx="2651760" cy="2788920"/>
          </a:xfrm>
          <a:prstGeom prst="rect">
            <a:avLst/>
          </a:prstGeom>
          <a:noFill/>
          <a:ln w="19050">
            <a:solidFill>
              <a:srgbClr val="FFE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40556E67-55B0-267E-9034-F193459A7AC8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Fuentes: Eurostat 2025; Comisión Europea, eGovernment Benchmark 2025.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Correlaciones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entre 27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: indican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relación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no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causalidad</a:t>
            </a:r>
            <a:endParaRPr lang="en-US" sz="700"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565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6D757D-6B0F-CAF5-6ACC-E2ED3D36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074FE9-A758-BD12-89A3-29A8156EACD1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1719F0-FE16-A412-F53F-1E50DA3C3E73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CONCLUSIONES Y RECOMENDACIONES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CE3695-867B-A631-006C-106F202B34C4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La tecnología ya está; el siguiente salto de la Administración digital es de personas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9BF162-88BF-BBF5-C65A-696B3E730C6A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6697E1-D953-9C45-4861-A7DE03142CA6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</a:t>
            </a:r>
            <a:endParaRPr lang="en-US" sz="80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4D28765D-172B-5B83-DDB6-939F568FD739}"/>
              </a:ext>
            </a:extLst>
          </p:cNvPr>
          <p:cNvSpPr/>
          <p:nvPr/>
        </p:nvSpPr>
        <p:spPr>
          <a:xfrm>
            <a:off x="118872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249FC4E2-6FF7-2D5B-4299-D9B02FD1B174}"/>
              </a:ext>
            </a:extLst>
          </p:cNvPr>
          <p:cNvSpPr/>
          <p:nvPr/>
        </p:nvSpPr>
        <p:spPr>
          <a:xfrm>
            <a:off x="129844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Dato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C7187B2A-69FE-8A28-6C7D-9FF81499A17D}"/>
              </a:ext>
            </a:extLst>
          </p:cNvPr>
          <p:cNvSpPr/>
          <p:nvPr/>
        </p:nvSpPr>
        <p:spPr>
          <a:xfrm>
            <a:off x="361188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60958626-EB34-7F36-29C3-009D97A6B391}"/>
              </a:ext>
            </a:extLst>
          </p:cNvPr>
          <p:cNvSpPr/>
          <p:nvPr/>
        </p:nvSpPr>
        <p:spPr>
          <a:xfrm>
            <a:off x="372160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76579E11-91E5-065E-6A92-3E461D90AC48}"/>
              </a:ext>
            </a:extLst>
          </p:cNvPr>
          <p:cNvSpPr/>
          <p:nvPr/>
        </p:nvSpPr>
        <p:spPr>
          <a:xfrm>
            <a:off x="6035040" y="1371600"/>
            <a:ext cx="2651760" cy="3657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B8BE4371-1E5D-F994-91FA-A37F97AC868B}"/>
              </a:ext>
            </a:extLst>
          </p:cNvPr>
          <p:cNvSpPr/>
          <p:nvPr/>
        </p:nvSpPr>
        <p:spPr>
          <a:xfrm>
            <a:off x="6144768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ECFE4FE6-B264-D5B1-423C-ABB7DB0AFFEC}"/>
              </a:ext>
            </a:extLst>
          </p:cNvPr>
          <p:cNvSpPr/>
          <p:nvPr/>
        </p:nvSpPr>
        <p:spPr>
          <a:xfrm>
            <a:off x="457200" y="184708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933F70D3-0977-B14D-0E47-00A03980D458}"/>
              </a:ext>
            </a:extLst>
          </p:cNvPr>
          <p:cNvSpPr/>
          <p:nvPr/>
        </p:nvSpPr>
        <p:spPr>
          <a:xfrm>
            <a:off x="457200" y="184708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</a:t>
            </a:r>
            <a:endParaRPr lang="en-US" sz="1600">
              <a:latin typeface="EYInterstate" panose="02000503020000020004" pitchFamily="2" charset="0"/>
            </a:endParaRP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41E60497-78F0-492E-FC95-B1FBE9C9FCEB}"/>
              </a:ext>
            </a:extLst>
          </p:cNvPr>
          <p:cNvSpPr/>
          <p:nvPr/>
        </p:nvSpPr>
        <p:spPr>
          <a:xfrm>
            <a:off x="129844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Disponibilidad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98,5 y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soporte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100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España;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transparencia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61 y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accesibilidad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54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06F318DB-AED0-9047-8778-157279B02950}"/>
              </a:ext>
            </a:extLst>
          </p:cNvPr>
          <p:cNvSpPr/>
          <p:nvPr/>
        </p:nvSpPr>
        <p:spPr>
          <a:xfrm>
            <a:off x="372160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ciudadano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encuentra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el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trámite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no sabe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pasará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ni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todos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pueden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usarlo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982B3D62-C472-6B02-A7BF-1C07C571A5F7}"/>
              </a:ext>
            </a:extLst>
          </p:cNvPr>
          <p:cNvSpPr/>
          <p:nvPr/>
        </p:nvSpPr>
        <p:spPr>
          <a:xfrm>
            <a:off x="6144768" y="184708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Revisar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accesibilidad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comunicar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plazos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en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los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trámites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de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más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volumen</a:t>
            </a:r>
            <a:endParaRPr lang="en-US" sz="950">
              <a:latin typeface="EYInterstate"/>
              <a:cs typeface="Arial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A4A64B3C-F733-69E6-1040-70F118E41DC7}"/>
              </a:ext>
            </a:extLst>
          </p:cNvPr>
          <p:cNvSpPr/>
          <p:nvPr/>
        </p:nvSpPr>
        <p:spPr>
          <a:xfrm>
            <a:off x="457200" y="2807208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120E8EC3-C3A5-6908-D554-A3D1C70D7C3C}"/>
              </a:ext>
            </a:extLst>
          </p:cNvPr>
          <p:cNvSpPr/>
          <p:nvPr/>
        </p:nvSpPr>
        <p:spPr>
          <a:xfrm>
            <a:off x="457200" y="280720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</a:t>
            </a:r>
            <a:endParaRPr lang="en-US" sz="1600">
              <a:latin typeface="EYInterstate" panose="02000503020000020004" pitchFamily="2" charset="0"/>
            </a:endParaRPr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53490BB5-13A3-1234-FF0F-F8EBAFD34458}"/>
              </a:ext>
            </a:extLst>
          </p:cNvPr>
          <p:cNvSpPr/>
          <p:nvPr/>
        </p:nvSpPr>
        <p:spPr>
          <a:xfrm>
            <a:off x="129844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 = 0,78.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Mayores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55: 42,8 % con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Jóvenes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: 74,6 %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saben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52 %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usan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F40C1F6B-E4FD-8076-1F37-31E03E52F2BC}"/>
              </a:ext>
            </a:extLst>
          </p:cNvPr>
          <p:cNvSpPr/>
          <p:nvPr/>
        </p:nvSpPr>
        <p:spPr>
          <a:xfrm>
            <a:off x="372160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mayores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necesitan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capacidad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jóvenes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un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motivo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usarla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4F009494-B372-37D4-3924-772A33D2879E}"/>
              </a:ext>
            </a:extLst>
          </p:cNvPr>
          <p:cNvSpPr/>
          <p:nvPr/>
        </p:nvSpPr>
        <p:spPr>
          <a:xfrm>
            <a:off x="6144768" y="280720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Formación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acompañamiento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+55;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servicios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proactivos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móviles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jóvenes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BBF00513-0D11-037B-7F15-0E1DCC080ADB}"/>
              </a:ext>
            </a:extLst>
          </p:cNvPr>
          <p:cNvSpPr/>
          <p:nvPr/>
        </p:nvSpPr>
        <p:spPr>
          <a:xfrm>
            <a:off x="457200" y="376732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AA87173F-8966-BF01-20FE-FE490D22DA24}"/>
              </a:ext>
            </a:extLst>
          </p:cNvPr>
          <p:cNvSpPr/>
          <p:nvPr/>
        </p:nvSpPr>
        <p:spPr>
          <a:xfrm>
            <a:off x="457200" y="37673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</a:t>
            </a:r>
            <a:endParaRPr lang="en-US" sz="1600">
              <a:latin typeface="EYInterstate" panose="02000503020000020004" pitchFamily="2" charset="0"/>
            </a:endParaRPr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808AA589-C307-F5E9-8015-255684E6269C}"/>
              </a:ext>
            </a:extLst>
          </p:cNvPr>
          <p:cNvSpPr/>
          <p:nvPr/>
        </p:nvSpPr>
        <p:spPr>
          <a:xfrm>
            <a:off x="129844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Calidad–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r = 0,65. Malta: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92,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≈65 %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808ADC69-2F2E-8A73-A960-26EFADAD30EA}"/>
              </a:ext>
            </a:extLst>
          </p:cNvPr>
          <p:cNvSpPr/>
          <p:nvPr/>
        </p:nvSpPr>
        <p:spPr>
          <a:xfrm>
            <a:off x="372160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Mejorar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ayuda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garantiza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adopción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8EA14F8C-05B1-C794-67E4-9A03AC0E49B8}"/>
              </a:ext>
            </a:extLst>
          </p:cNvPr>
          <p:cNvSpPr/>
          <p:nvPr/>
        </p:nvSpPr>
        <p:spPr>
          <a:xfrm>
            <a:off x="6144768" y="376732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Acompañar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cada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inversión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tecnológica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con un plan de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adopción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capacitación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2081AEB-C28F-278A-01B5-D212E85E45D0}"/>
              </a:ext>
            </a:extLst>
          </p:cNvPr>
          <p:cNvSpPr/>
          <p:nvPr/>
        </p:nvSpPr>
        <p:spPr>
          <a:xfrm>
            <a:off x="6035040" y="1847088"/>
            <a:ext cx="2651760" cy="2788920"/>
          </a:xfrm>
          <a:prstGeom prst="rect">
            <a:avLst/>
          </a:prstGeom>
          <a:noFill/>
          <a:ln w="19050">
            <a:solidFill>
              <a:srgbClr val="FFE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40556E67-55B0-267E-9034-F193459A7AC8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Fuentes: Eurostat 2025; Comisión Europea, eGovernment Benchmark 2025.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Correlaciones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entre 27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: indican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relación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no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causalidad</a:t>
            </a:r>
            <a:endParaRPr lang="en-US" sz="700"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341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4680-F466-E07F-0906-C53CE0C5F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7CEA4C-4147-9046-C06C-DB0363B7F46E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B60A85-8D0A-8F90-4540-969CA7A90EA9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POWER BI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0E8287-DAF2-997D-C075-7CA35F59FF84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E18EF83-37C6-A9DB-0F10-47D3D826F3CC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</a:t>
            </a:r>
            <a:endParaRPr lang="en-US" sz="80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10" name="Add-in 9">
                <a:extLst>
                  <a:ext uri="{FF2B5EF4-FFF2-40B4-BE49-F238E27FC236}">
                    <a16:creationId xmlns:a16="http://schemas.microsoft.com/office/drawing/2014/main" id="{29305A79-4686-5753-F880-69C54645E1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4745271"/>
                  </p:ext>
                </p:extLst>
              </p:nvPr>
            </p:nvGraphicFramePr>
            <p:xfrm>
              <a:off x="457201" y="609600"/>
              <a:ext cx="8229599" cy="411784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0" name="Add-in 9">
                <a:extLst>
                  <a:ext uri="{FF2B5EF4-FFF2-40B4-BE49-F238E27FC236}">
                    <a16:creationId xmlns:a16="http://schemas.microsoft.com/office/drawing/2014/main" id="{29305A79-4686-5753-F880-69C54645E1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201" y="609600"/>
                <a:ext cx="8229599" cy="411784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3778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DB85-1667-3E1C-8E32-FD340A76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85C5B6-4610-89CF-1C6B-B25A6B9D69A4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8FE706-A949-23E6-97D1-A8E778EBBFE5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POWER BI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A41965E-AE09-DC39-D93E-54A308D9BFE1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920CAEA-C276-0448-8242-CDA16FBE2C98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</a:t>
            </a:r>
            <a:endParaRPr lang="en-US" sz="80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8" name="Add-in 7">
                <a:extLst>
                  <a:ext uri="{FF2B5EF4-FFF2-40B4-BE49-F238E27FC236}">
                    <a16:creationId xmlns:a16="http://schemas.microsoft.com/office/drawing/2014/main" id="{3BF3D72E-04A3-EB78-6D88-7F559835C6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6298953"/>
                  </p:ext>
                </p:extLst>
              </p:nvPr>
            </p:nvGraphicFramePr>
            <p:xfrm>
              <a:off x="457201" y="558801"/>
              <a:ext cx="8229599" cy="416864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8" name="Add-in 7">
                <a:extLst>
                  <a:ext uri="{FF2B5EF4-FFF2-40B4-BE49-F238E27FC236}">
                    <a16:creationId xmlns:a16="http://schemas.microsoft.com/office/drawing/2014/main" id="{3BF3D72E-04A3-EB78-6D88-7F559835C6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201" y="558801"/>
                <a:ext cx="8229599" cy="41686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09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69793-3AB1-AB45-9381-4ED550ED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AC18AC-83F9-46C7-7E3B-8A55934AC418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76952C-DADC-B7EC-9D41-F15A5E1A44D0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POWER BI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EC188AE-3F59-FF09-994D-26D8099DC1EA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EFFD394-17C4-27DD-B768-5709A3375308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</a:t>
            </a:r>
            <a:endParaRPr lang="en-US" sz="80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686B857E-A89E-755F-4D20-7FFE1249DD1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7200" y="589789"/>
              <a:ext cx="8229600" cy="413765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686B857E-A89E-755F-4D20-7FFE1249DD1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200" y="589789"/>
                <a:ext cx="8229600" cy="413765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3222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E02DC-9633-6F24-B760-5F9B5D4F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5584D4-C2E0-D92E-45EE-5CD73E15CC5C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D6A17C-EF1E-E872-2B5A-A87395D58AEB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MEDIDAS DEL PANEL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A2763F-696A-1E39-3668-0861EF02A969}"/>
              </a:ext>
            </a:extLst>
          </p:cNvPr>
          <p:cNvSpPr/>
          <p:nvPr/>
        </p:nvSpPr>
        <p:spPr>
          <a:xfrm>
            <a:off x="457200" y="548640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Medidas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DAX del Power BI y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cómo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explicarlas</a:t>
            </a:r>
            <a:endParaRPr lang="en-US" sz="200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65D8CE-BE81-0996-2E57-1B0605053AE4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B8057F-622E-1B84-7BC9-6BF6A92FCBB3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Correlación: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coeficiente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Pearson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(27 puntos). &gt; 0,7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fuerte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0,5-0,7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moderada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FFE708E-D333-0A82-C11D-7209807BFEDA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</a:t>
            </a:r>
            <a:endParaRPr lang="en-US" sz="80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DFC9C01-3930-B503-3B8E-668430B07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558507"/>
              </p:ext>
            </p:extLst>
          </p:nvPr>
        </p:nvGraphicFramePr>
        <p:xfrm>
          <a:off x="457200" y="1234440"/>
          <a:ext cx="8229600" cy="2926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Medida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Correlación competencias-uso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0,78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Pearson entre % competencias y % uso (−1 a 1)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Correlación calidad-uso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0,65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Pearson entre Overall Score y % 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57,7 %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Media UE de personas que usan la Administración online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Competencia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60,4 %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Media UE con competencias básicas o superiores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Puntuación media calidad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74,71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Media UE del Overall Score (0-100)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Brecha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pp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Uso − competencias por tramo de edad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Cuadrante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Sitúa cada país respecto a las dos medias UE (color del punto)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950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4C94D-6371-43C0-9EF2-D1E9E9350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DD2252-6E20-EB41-2B10-09B336BFD6EC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C1F866-6EFB-EA33-4456-180586C43C92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FUENTES OFICIALES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4E9F58-FF78-BB05-74CC-F2215B2B0CF7}"/>
              </a:ext>
            </a:extLst>
          </p:cNvPr>
          <p:cNvSpPr/>
          <p:nvPr/>
        </p:nvSpPr>
        <p:spPr>
          <a:xfrm>
            <a:off x="457200" y="548640"/>
            <a:ext cx="8229600" cy="385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00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</a:t>
            </a:r>
            <a:r>
              <a:rPr lang="es-E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</a:t>
            </a:r>
            <a:r>
              <a:rPr lang="es-ES" sz="200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oficiales unidas por una tabla de países común</a:t>
            </a:r>
          </a:p>
          <a:p>
            <a:pPr marL="0" indent="0">
              <a:buNone/>
            </a:pPr>
            <a:endParaRPr lang="en-US" sz="2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22A0015-13B4-B510-4540-E3F7C7354260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3B957C-4381-21F8-04CE-9FE4E74FEF6E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Eurostat (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isoc_ciegi_ac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isoc_sk_dskl_i21) y Comisión Europea, eGovernment Benchmark 2025.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9128F0-3E6B-DAA7-4FEF-71AA9202BCF7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</a:t>
            </a:r>
            <a:endParaRPr lang="en-US" sz="80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415802D-F410-6339-86BB-2C445A5847FB}"/>
              </a:ext>
            </a:extLst>
          </p:cNvPr>
          <p:cNvSpPr/>
          <p:nvPr/>
        </p:nvSpPr>
        <p:spPr>
          <a:xfrm>
            <a:off x="457200" y="1371600"/>
            <a:ext cx="3931920" cy="822960"/>
          </a:xfrm>
          <a:prstGeom prst="rect">
            <a:avLst/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915523FB-A9CB-E88A-8637-760DA16C4FA5}"/>
              </a:ext>
            </a:extLst>
          </p:cNvPr>
          <p:cNvSpPr/>
          <p:nvPr/>
        </p:nvSpPr>
        <p:spPr>
          <a:xfrm>
            <a:off x="457200" y="1371600"/>
            <a:ext cx="64008" cy="8229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097D4DE-6376-9619-79CC-9696A8037852}"/>
              </a:ext>
            </a:extLst>
          </p:cNvPr>
          <p:cNvSpPr/>
          <p:nvPr/>
        </p:nvSpPr>
        <p:spPr>
          <a:xfrm>
            <a:off x="640080" y="144475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isoc_ciegi_ac</a:t>
            </a:r>
            <a:endParaRPr lang="en-US" sz="1000">
              <a:latin typeface="EYInterstate" panose="02000503020000020004" pitchFamily="2" charset="0"/>
            </a:endParaRPr>
          </a:p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 ·  % que se relaciona online con la Administración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47FBF2EB-EB8A-D43E-36FA-7531C73EFE88}"/>
              </a:ext>
            </a:extLst>
          </p:cNvPr>
          <p:cNvSpPr/>
          <p:nvPr/>
        </p:nvSpPr>
        <p:spPr>
          <a:xfrm>
            <a:off x="3383280" y="1645920"/>
            <a:ext cx="868680" cy="2743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 real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842EBF4A-A8FB-B5ED-B874-7164C8725A46}"/>
              </a:ext>
            </a:extLst>
          </p:cNvPr>
          <p:cNvSpPr/>
          <p:nvPr/>
        </p:nvSpPr>
        <p:spPr>
          <a:xfrm>
            <a:off x="457200" y="2331720"/>
            <a:ext cx="3931920" cy="822960"/>
          </a:xfrm>
          <a:prstGeom prst="rect">
            <a:avLst/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373263D4-1F4E-55F3-D356-D4193AED8482}"/>
              </a:ext>
            </a:extLst>
          </p:cNvPr>
          <p:cNvSpPr/>
          <p:nvPr/>
        </p:nvSpPr>
        <p:spPr>
          <a:xfrm>
            <a:off x="457200" y="2331720"/>
            <a:ext cx="64008" cy="8229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04BEBA7A-DD2A-D8F4-1E13-F1B2B679CFA9}"/>
              </a:ext>
            </a:extLst>
          </p:cNvPr>
          <p:cNvSpPr/>
          <p:nvPr/>
        </p:nvSpPr>
        <p:spPr>
          <a:xfrm>
            <a:off x="640080" y="240487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isoc_sk_dskl_i21</a:t>
            </a:r>
            <a:endParaRPr lang="en-US" sz="1000">
              <a:latin typeface="EYInterstate" panose="02000503020000020004" pitchFamily="2" charset="0"/>
            </a:endParaRPr>
          </a:p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 ·  % con competencias digitales básicas o superiores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E4094970-9646-43A6-F558-0807A9B83726}"/>
              </a:ext>
            </a:extLst>
          </p:cNvPr>
          <p:cNvSpPr/>
          <p:nvPr/>
        </p:nvSpPr>
        <p:spPr>
          <a:xfrm>
            <a:off x="3383280" y="2606040"/>
            <a:ext cx="868680" cy="2743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Capacidad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80B44174-ADA5-E5FB-5552-9A063C509386}"/>
              </a:ext>
            </a:extLst>
          </p:cNvPr>
          <p:cNvSpPr/>
          <p:nvPr/>
        </p:nvSpPr>
        <p:spPr>
          <a:xfrm>
            <a:off x="457200" y="3291840"/>
            <a:ext cx="3931920" cy="822960"/>
          </a:xfrm>
          <a:prstGeom prst="rect">
            <a:avLst/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752EC78A-DEC2-CA70-3FB6-7F65801296CC}"/>
              </a:ext>
            </a:extLst>
          </p:cNvPr>
          <p:cNvSpPr/>
          <p:nvPr/>
        </p:nvSpPr>
        <p:spPr>
          <a:xfrm>
            <a:off x="457200" y="3291840"/>
            <a:ext cx="64008" cy="8229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201A5E81-B52B-F1F8-A3FD-789A4723C8A0}"/>
              </a:ext>
            </a:extLst>
          </p:cNvPr>
          <p:cNvSpPr/>
          <p:nvPr/>
        </p:nvSpPr>
        <p:spPr>
          <a:xfrm>
            <a:off x="640080" y="336499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eGovernment Benchmark</a:t>
            </a:r>
            <a:endParaRPr lang="en-US" sz="1000">
              <a:latin typeface="EYInterstate" panose="02000503020000020004" pitchFamily="2" charset="0"/>
            </a:endParaRPr>
          </a:p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Comisión Europea  ·  Puntuación 0-100 por componente y 9 áreas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33225463-F10B-80D5-A6D1-E380A563411B}"/>
              </a:ext>
            </a:extLst>
          </p:cNvPr>
          <p:cNvSpPr/>
          <p:nvPr/>
        </p:nvSpPr>
        <p:spPr>
          <a:xfrm>
            <a:off x="3383280" y="3566160"/>
            <a:ext cx="868680" cy="2743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F4BB54D3-FFDB-2855-772B-05EA9662E529}"/>
              </a:ext>
            </a:extLst>
          </p:cNvPr>
          <p:cNvSpPr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Preparación en Power Query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EBF5CF89-DC88-44F5-932E-22DEDC1A96D5}"/>
              </a:ext>
            </a:extLst>
          </p:cNvPr>
          <p:cNvSpPr/>
          <p:nvPr/>
        </p:nvSpPr>
        <p:spPr>
          <a:xfrm>
            <a:off x="4754880" y="155448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48A3F50B-7B51-35F2-A71D-65D40A0A73D6}"/>
              </a:ext>
            </a:extLst>
          </p:cNvPr>
          <p:cNvSpPr/>
          <p:nvPr/>
        </p:nvSpPr>
        <p:spPr>
          <a:xfrm>
            <a:off x="47548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1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F28B8E54-1D5C-35DC-53D0-B1839D216F24}"/>
              </a:ext>
            </a:extLst>
          </p:cNvPr>
          <p:cNvSpPr/>
          <p:nvPr/>
        </p:nvSpPr>
        <p:spPr>
          <a:xfrm>
            <a:off x="5257800" y="1508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Filtrar año 2025 y los 27 países de la UE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DB12E0AA-518B-FE6A-DA99-4F4D78BDDA30}"/>
              </a:ext>
            </a:extLst>
          </p:cNvPr>
          <p:cNvSpPr/>
          <p:nvPr/>
        </p:nvSpPr>
        <p:spPr>
          <a:xfrm>
            <a:off x="4754880" y="210312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12EC6F32-CBDC-B8D0-B421-5BC3FCC27339}"/>
              </a:ext>
            </a:extLst>
          </p:cNvPr>
          <p:cNvSpPr/>
          <p:nvPr/>
        </p:nvSpPr>
        <p:spPr>
          <a:xfrm>
            <a:off x="47548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2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D6D766F3-AB96-0B0A-6AD5-29A64130E7B6}"/>
              </a:ext>
            </a:extLst>
          </p:cNvPr>
          <p:cNvSpPr/>
          <p:nvPr/>
        </p:nvSpPr>
        <p:spPr>
          <a:xfrm>
            <a:off x="5257800" y="2057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Filtrar tramos de edad (16-74, 16-24, 25-54, 55-74)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FB68669F-67D9-B62C-35A7-CD49607DF7FD}"/>
              </a:ext>
            </a:extLst>
          </p:cNvPr>
          <p:cNvSpPr/>
          <p:nvPr/>
        </p:nvSpPr>
        <p:spPr>
          <a:xfrm>
            <a:off x="4754880" y="265176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F0B6EBED-032C-C943-59F7-27B97574898A}"/>
              </a:ext>
            </a:extLst>
          </p:cNvPr>
          <p:cNvSpPr/>
          <p:nvPr/>
        </p:nvSpPr>
        <p:spPr>
          <a:xfrm>
            <a:off x="4754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3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4E30D6DF-0B94-08AD-0DA4-44E91B137ADF}"/>
              </a:ext>
            </a:extLst>
          </p:cNvPr>
          <p:cNvSpPr/>
          <p:nvPr/>
        </p:nvSpPr>
        <p:spPr>
          <a:xfrm>
            <a:off x="5257800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Unificar los códigos de país entre fuentes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4" name="Shape 27">
            <a:extLst>
              <a:ext uri="{FF2B5EF4-FFF2-40B4-BE49-F238E27FC236}">
                <a16:creationId xmlns:a16="http://schemas.microsoft.com/office/drawing/2014/main" id="{9957AA3A-40DF-C1CF-11C5-F5205ED85904}"/>
              </a:ext>
            </a:extLst>
          </p:cNvPr>
          <p:cNvSpPr/>
          <p:nvPr/>
        </p:nvSpPr>
        <p:spPr>
          <a:xfrm>
            <a:off x="4754880" y="320040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436242EB-677F-BC55-740C-90816B4BC628}"/>
              </a:ext>
            </a:extLst>
          </p:cNvPr>
          <p:cNvSpPr/>
          <p:nvPr/>
        </p:nvSpPr>
        <p:spPr>
          <a:xfrm>
            <a:off x="47548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4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10C22D6D-FAFF-F239-238F-556B04ACF6A7}"/>
              </a:ext>
            </a:extLst>
          </p:cNvPr>
          <p:cNvSpPr/>
          <p:nvPr/>
        </p:nvSpPr>
        <p:spPr>
          <a:xfrm>
            <a:off x="5257800" y="3154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Crear la tabla de países que relaciona las tres tablas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0" name="Shape 30">
            <a:extLst>
              <a:ext uri="{FF2B5EF4-FFF2-40B4-BE49-F238E27FC236}">
                <a16:creationId xmlns:a16="http://schemas.microsoft.com/office/drawing/2014/main" id="{2ED4C62D-89B7-3A4B-6F3D-2DEAE364EA2A}"/>
              </a:ext>
            </a:extLst>
          </p:cNvPr>
          <p:cNvSpPr/>
          <p:nvPr/>
        </p:nvSpPr>
        <p:spPr>
          <a:xfrm>
            <a:off x="4754880" y="374904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60727889-832D-A90C-7475-9C4EF6654A37}"/>
              </a:ext>
            </a:extLst>
          </p:cNvPr>
          <p:cNvSpPr/>
          <p:nvPr/>
        </p:nvSpPr>
        <p:spPr>
          <a:xfrm>
            <a:off x="47548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5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64" name="Text 32">
            <a:extLst>
              <a:ext uri="{FF2B5EF4-FFF2-40B4-BE49-F238E27FC236}">
                <a16:creationId xmlns:a16="http://schemas.microsoft.com/office/drawing/2014/main" id="{98F87276-050E-880C-6CCB-FB776B80F258}"/>
              </a:ext>
            </a:extLst>
          </p:cNvPr>
          <p:cNvSpPr/>
          <p:nvPr/>
        </p:nvSpPr>
        <p:spPr>
          <a:xfrm>
            <a:off x="525780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Crear medidas: medias UE, correlaciones, brecha y cuadrante</a:t>
            </a:r>
            <a:endParaRPr lang="en-US" sz="950"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8155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3211BAF1-DAD1-4D89-A540-730E0F0F72A6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7F7F7&quot;"/>
    <we:property name="bookmark" value="&quot;H4sIAAAAAAAAA+1Y3W/bNhD/Vwy99MUY9C0qb4mbAAWWLpi37KEIgiN5dtjKkkBRTrzA/3uPpNPUjld7RttlgF8M6XRfv98dj6QfA6m6toLFe5hhcBKcNc2nGehPgygYBrWXCRbFeSiLmLMQUCS5jAR9bVqjmroLTh4DA3qK5lp1PVTWEQk/3AyDVmOHeo7v8d5/o1/FVaXMIjgxusdhAFV1BVNrMIGqI0GLumtqqNTf6G06r7ocBvjQVo0GG3VswKCNPCd1eqcso18SSgqEUXMcozBemhQsBgg5MBaWUZwKFAWpdV7BJb9Vxbp24UdNbUDVFMbKYpYXZZaxNEHMwjIPQ5lYeafqabVK+Nn2j0Vr+TP4YHjzYCnjHymw9bRcEqCkiPM4Y0kmsxTTuOCMiCXriarMKiBfnD+0mugkkr23UzmHWqAMHCHEsMf/GFwidL12rJyvfRg3vRb4O07cp9o4+oPblX53O2pm7QBqOTiVM1UHNrMr3VAhnN4lSgWDP8+d/K65H2kk7mVwEi5vSPJN5AK0XIdNL1qiPls4SG+VfqpUPNzI+sfDofxtEViUxVRzzhnEYc64xN1FGBEF00YrQaA36zBqqn5W75v3RV9VAwkGNhO1PdzoQ1jvKiVQr/EezJBWqH2YIvWyNSIwrY+msHsGvP50/bS8qDwXupk5s9WomFCELTCGgU+DEh0Gf92hLeEHy0otlVlR8W6Dnm6lsgdx/sWF/yfCKO41VL2bQuT2V2U84kcvJtU3t74NvAl2b6zVje8IZ++QvKRo1khHIrp22O76LVnI5r62Pr2zDqunLn/hsTPURGbsyjl2ejv821m48mzx+3lHLHz8aqJ9Qf/9m/HGDa4MgE8YRhBjmBYizlPE17Bm3lGPCZBbl81w9wQ9nU41TuGpS89/RIq+jlZ40derrogOGa1V3xHXKM9Aj+5Am0Pn7H8I2i6OrQ28apXF92zhr3vDd3EeiRjzLI0jjmVYJKnk5XH7/cnbbyHyclJOZM6ZgCLMORby8BNVyTJZlBDGoZBRlJYlRvw1DKZR09eG+vm4m++7mz8ztsd2Pm7piH7cxPduQj//ygmXSYKRKMMwy8sygQgPX3o8CyEr4gySSUw3xbyMUtjpTc3o8vfSl2DIIUeWJCHjgrE0hPx/vowp9QrlJbSbA/mnbYCb5RecrrDxBFiJGGV5nnF/+zys/JILEDznAjHnVH+kq/FrKNm3joTH2bt99q4dlXZP39/mVlQNxoLuUscp/C/PoW71bOuvpjddCwKvoMYtcAkYnbJQ7gDp/lb7gnK5/Az6ln328RMAAA==&quot;"/>
    <we:property name="creatorSessionId" value="&quot;c843008a-b501-4e50-95dc-4f4f09fafc84&quot;"/>
    <we:property name="creatorTenantId" value="&quot;5b973f99-77df-4beb-b27d-aa0c70b8482c&quot;"/>
    <we:property name="creatorUserId" value="&quot;100320061CA161E8&quot;"/>
    <we:property name="datasetId" value="&quot;52044b5d-f1af-4efa-aaae-5b473d67f25f&quot;"/>
    <we:property name="embedUrl" value="&quot;/reportEmbed?reportId=966ae8ed-dda4-4716-ac8e-46b8a5641cfe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initialStateBookmark" value="&quot;H4sIAAAAAAAAA+1YS2/bOBD+K4YuvRgLvR+5Oa4DFF0nQb2bPRRBMCRHjlpZEijKiTfwf98hqWxqx1u7Rh9ZIBfDGs3zm49DUg+OKNqmhNU5LNA5cU7r+vMC5OeB5wydqpddXLyfjj68vzkfTSckrhtV1FXrnDw4CuQc1VXRdlBqDyT8eD10GoktyiWe4519R78FK8pCrZwTJTscOlCWlzDXBjmULQkalG1dQVn8jdamtarroYP3TVlL0FFnChTqyEtSp2dKz/stoKSAq2KJM+TKSoMk9QFcBmnqZp4fcuQJqbVWwSS/U0W7NuHHdaWgqCiMlvlpnGRRlIYBYuRmseuKQMvbopqXfcJPtn+sGg2cwnvF6nsNGftEgbWn9ZoKChI/9qM0iEQUYugnLPW4ts6LUvUB2Wpy30iCk0C23kZiCRVH4RhACGFb/4MzRWg7aVCZbLyY1Z3k+AFz86pSBn7nptdvb8b1ohlAJQYjsSgqR2d2KWtqhNGboihg8OfEyG/ru7FEwl44J+76miRfrZyDFJtl04MUKE9XpqS3hXzslD/cyvrHl0P56yakXuRTzxlLwXfjlAnc34QxQTCvZcGp6O0+jOuyW1SH5n3WleVAgILtRDWHa3kM6m1ZcJQbuDsLpBWq/8yRuKyNqJjGRiuwfSp489/V4/Ki9pzJemHM+hmRU4QdZQwdmwYlOnT+ukXdwo8alUoUqofi3RY8ba9yAHD2wYT/L8Ao7hWUnZlC5Pb3QtmKH6yYVN/cWBpYE2zfaKtrywhjbyp5DtGiFgZENHTY7fotWYj6rtI+rbMWy0eWP/PYKiKRmpl2zozeHv96Fvaedf123hEKn76YaP9W//3JeG0GVwTA8hQ98NENE+7HIeJLWDPviGMcxM5lM9w/QUfzucQ5PLJ08iNStH3UwrOu6lnhHTNay64lrFGcghzfglTHztlfWLReHDsJ3FNl9T0p/CU3LItjj/sYR6HvMczcJAgFy16335+8/SY8zvIsFzFLOSRuzDARx5+osjQSSQau73LheWGWocdewmAa112liM+vu/mhu/kTYgds57OGjuivm/jBJLTzL8uZCAL0eOa6UZxlAXh4/NJjkQtR4kcQ5L7P0jjzQtjrrVjQ5e+5L54igxjTIHBTxtM0dCH+ny9jSr1EMYVmeyD/tA1wu/2c0RXWzyHNEL0ojiNmb5/HtV8wDpzFjCPGjPqPdDV+CS372pHwdfbunr0bR6X90/diqUXlYMbpLvU6hb/xHGpWzy5+1Z1qG+B4CRXuKJcKo1MWij1Fms9qjgmy1F/fyn2ob6CyXv8DtlKrNBoUAAA=&quot;"/>
    <we:property name="isFiltersActionButtonVisible" value="true"/>
    <we:property name="isVisualContainerHeaderHidden" value="false"/>
    <we:property name="pageDisplayName" value="&quot;P1&quot;"/>
    <we:property name="pageName" value="&quot;3782aa0ba8809124cec7&quot;"/>
    <we:property name="reportEmbeddedTime" value="&quot;2026-10-05T16:15:34.672Z&quot;"/>
    <we:property name="reportName" value="&quot;Proyecto final 2025&quot;"/>
    <we:property name="reportState" value="&quot;CONNECTED&quot;"/>
    <we:property name="reportUrl" value="&quot;/groups/me/reports/966ae8ed-dda4-4716-ac8e-46b8a5641cfe/3782aa0ba8809124cec7?experience=power-bi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3F8383F-9A35-422A-8A28-130D40A505F9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CFCFC&quot;"/>
    <we:property name="bookmark" value="&quot;H4sIAAAAAAAAA+1X227cNhD9FUMveREKirr7Ldm4QIDGMOrULRAYxogc2Uy04oLi2t4a+0n9iv5Yh6TsxOuN107TtdP2xfCSo+GZM4dHo6tIqmHWwWIfphjtRq+0/jgF83EnieKoD2tYMYSsZaxFxtKSFVAw2tUzq3Q/RLtXkQVzivZIDXPoXCJafH8cRzODA5pz3MeLsEd/VaM6ZRfRrjVzjCPougM4dQ+00A20MEMz6B469TuGZ4YQuowjvJx12oA79dCCRXfyOYXTb0KZ/JASKBBWneMhChtWZQMsLxMQjP7hdVmLnFPYEAI8+LUhLrU/fqJ7C6qnY9wabbfYYFOmRQV5WiWFZG69VZ0dQ5rF3uXMEAFEy2Lm+Hspz6EXKCNfAnESEF9FbxGGufF17N3aONRzI/BnbP1Wbz1h0ckYP5xM9HS2A73ceSmnqo+WRM6B0USdj5toY7AD4ZK5rTN9MTFIhMloly2PaWVQ/Wk38vup1HcBrgAjxy1qcvOBqHKF0WPaSDSvFr6218pck8zjFfhbqYsKoe20zBkDDhkrqrIoUmhL/uWGjIJOkqZKi7ZMGp5VRS0wEznVOrZrQkydaqOEJ+B2xya6m0/7hxYm1fTkANSwWsgB/PnHcKc1yTJ+Msn8Muh/lVRCPUEimWzKkme8ZbJu2oI1Wd64pPdWZvHSNvrydlkuW5EgT/M2Y03bIkBFViA2Co5DLmsuk7qssMokYp41XxJcSOTyHF17G7H2o9FTn3H0aaTIG1b2JEiy0DgK4KlxcfTrGTpa3zvN9lLZkdZ9be9y/WZF0cP43AO0Hn54QCstcKBojaAcQTf3rwRK+pOi4gLffpkCX7zTFroXLpb65bv2967dSMd6PKsaj2+aJDm2skpLzkSTIs9K1tafmrR9E5/O0GIvFNyLOmEFd+8jbCGht1MBWZE9Heqv9ZFuPpAuUIZGT87A2GfmKLf74WQdRg0K+fDZMDHe5cXDb9DDZHvszadKUgF5ktQ1qxOGCeOi3jh+fLv32aMu1samD50SZHSftzmaIg2SfigDC76IWThIYdjX0m+jr3G9nbymJ6S+6J2jEAY1vOlpSiRUh9iFTr3dnMWNnFFwIzctdtdyu4NosMSsPfSFhgM2ZPZz7pja4VsroxvL/CdElDaikGmBLBOYphnnstg8MuVJXXEsOKsgy1PBayj/2yPT/Qb9/Y5Oq0bnJVPkjUzzvM0xqypos7aqtug7jxPF/9bzNNazqUvBfWpeSZZWjJd5zjmwquX5M5ZSvEUMkzlIA73Fe3E8L5/77j5ZBwGWhLZ2xPzWE93GGxFHv/m0W2lduH+CM4lugCwFfYSKGngBX/s17BOus1A9t8MMBB5Aj2uMi/RBmF3DHmFXy+VfRB82P6wUAAA=&quot;"/>
    <we:property name="creatorSessionId" value="&quot;18fa9791-fbac-43cb-a0b8-db9a1b06a301&quot;"/>
    <we:property name="creatorTenantId" value="&quot;5b973f99-77df-4beb-b27d-aa0c70b8482c&quot;"/>
    <we:property name="creatorUserId" value="&quot;100320061CA161E8&quot;"/>
    <we:property name="datasetId" value="&quot;52044b5d-f1af-4efa-aaae-5b473d67f25f&quot;"/>
    <we:property name="embedUrl" value="&quot;/reportEmbed?reportId=966ae8ed-dda4-4716-ac8e-46b8a5641cfe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initialStateBookmark" value="&quot;H4sIAAAAAAAAA+1XXU8cNxT9K2he8jKqPJ5v3siGSlEKQSGllSKE7th3wMnseOXxEjaIn9Rf0T/Wa3sgYdmwkKZA2r6sdu071+eee3zm7nkk1TDrYLELU4w2o+daf5iC+bCRRHHUj2uvX7/a2Xrz6mh3a2eblvXMKt0P0eZ5ZMEcoz1Qwxw6l4EW3x3G0czggOYUd/Fj2KNP1ahO2UW0ac0c4wi6bg+O3QMtdAMtzNAMuodOfcLwzBBCL+IIz2adNuBO3bdg0Z18SuH0m+AlP6UECoRVp7iPwoZV2QDLywQEoy+8LmuRcwobQoAHvzLEpfbHT3RvQfV0jFuj7RYbbMq0qCBPq6SQzK23qrNjSLPYPpsZIoBoWcwccVvyFHqBMvIlECcB8Xm0gzDMja9j+9rGvp4bgW+w9Vu99YRFR2P8cDTR09kG9HJjS05VH10QOXtGE3U+bqKNwQ6ES+a2TvTHiUEiTEab7OKQVgbVH3cjv59LfRvgCjBy3KImN++JKlcYPaaNRPN84Wt7ocwlyTxegv8gdVEhtJ2WOWPAIWNFVRZFCm3Jv96QUclJ0lRp0ZZJw7OqqAVmIqdax3ZNiKljbZTwBFzv2ER382l/18Kkmh7tgRqWC9mDP/8YbrQmuYgfTTK/DvpfJZVQT5BIJpuy5BlvmaybtmBNljcu6a2VWTyzjT67XpbLViTI07zNWNO2CFCRFYi1guOQy5rLpC4rrDKJmGfN1wQXErk8B5feRqz9bPTUZxwNGinyipVtCZIsNI4CeGpcHP12go7Wd06zvVR2pHVX25tcv1xS9DA+dwethx8e0FILHChaIygH0M39K4GS/qKouMC3X6bAZ2+1he6Zi6V++a79vWs30rEaz7LG46smSY6trNKSM9GkyLOStfXnJj28iU9naLEXCm5FnbCCu/cRtpDQ26mArMgeD/W3+kg3H0gXKEOjJydg7BNzlOv9cLIOowaFvP9imBjv8uLuN+husj305lMlqYA8Seqa1QnDhHFRrx0/vt/77F4Xa23Th04JMrov2xxNkQZJP5SBBV/ELBykMOxr6bfR17jaTl7QE1J/7J2jEAY1vOxpSiRU+9iFTu2sz+JGzii4kZsWu0u53UA0WGLW7vtCwwFrMvs5d0zt8K2U0ZVl/hMiShtRyLRAlglM04xzWawfmfKkrjgWnFWQ5angNZT/7ZHpdoP+cUenZaPzkinyRqZ53uaYVRW0WVtVD+g79xPF/9bzONazrkvBfWpeSZZWjJd5zjmwquX5E5ZS/IAYJnOQBnqLt+J4Wj73w/1lHQRYEtrKEfN7T3Rrb0Qc/e7TPkjrwv0TnEl0A2Qp6E+oqIEX8K3/hn3CVRaq53aYgcA96HGFcZE+CLNr2N3sKnZoVNPdwzndx183YGci1RQAAA==&quot;"/>
    <we:property name="isFiltersActionButtonVisible" value="true"/>
    <we:property name="isVisualContainerHeaderHidden" value="false"/>
    <we:property name="pageDisplayName" value="&quot;P2&quot;"/>
    <we:property name="pageName" value="&quot;dba0571ac0ba02979c52&quot;"/>
    <we:property name="reportEmbeddedTime" value="&quot;2026-10-05T16:19:12.106Z&quot;"/>
    <we:property name="reportName" value="&quot;Proyecto final 2025&quot;"/>
    <we:property name="reportState" value="&quot;CONNECTED&quot;"/>
    <we:property name="reportUrl" value="&quot;/groups/me/reports/966ae8ed-dda4-4716-ac8e-46b8a5641cfe/dba0571ac0ba02979c52?experience=power-bi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2452FBAF-54D6-4FF6-98B7-87E27519FA11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7F7F7&quot;"/>
    <we:property name="bookmark" value="&quot;H4sIAAAAAAAAA91XUW/bNhD+K4Ze+uINkkzLUt5SNwECLF0wb2mBIQiO5MlhK4sCSTnxAv+k/Yr9sR0pJcs8N/a6uUv3IkhH8u777uMdqftIKttUsHoLC4yOotdaf1yA+ThIomFUd7aMsVSkGbIUJYpkDIUsaVQ3TunaRkf3kQMzR3epbAuVd0TGn6+GUWPQolniW7ztxuipuKqUW0VHzrQ4jKCqLmDuF5RQWTI0aKyuoVK/YLfGdlPXwwjvmkob8FFnDhz6yEuaTt+EMvl2RKBAOLXEGQrXWcecIfAyBkwQ0xgLMfbTbDchgN86heylqhx59698dXLXGCJ1/5gTGcfIOJM58jQbjwpWTMivWzV+dEro5tooARUZO0fez+UD2nQYnRq9CB77zPuUntQu5CY6batqIMEBGX8MPuM1JfTdDRoMi6a6lqrjeB+dhaeHiNZ2tMKUql1sjPivmW6NwB+w/OMjhF9Tii+MJgEChDMKIEBqQwMU+hKqNuhKnr9TxIeoeUbeTLNffb/0pmowE9rgK7/mak2PTrYn0fdCtSUPz6AbRjf6dmqQki6jo2Q9fFSpACxSxrN8RDsXMGbjcfz/Usnv9H0luj5HqWDQLUF7eJEewW0q5CMuQ3VThhyouq+ztIyp10hZsiSWZUpyZfDpUuxlPJZLqAU53mRxPJ8bnMND/k8OQbFLrjeetnXfdJJNwnEgbFU9r/qmFlpXeOv2TSTAyH6IOiv/QJnzdGmZNhLN61Vg/EaZh85Ge/PkpbAlemQaccZLXvBJQr20zBnm6TN9dGsN/pNdKNXi+gKU3cR8Ab/9av+yB/eQxFZKUEN4Kke0QDro/EvIjufRdJEUduNahmEMNLeX4RtaIfVt7euPMCh7VlPvJFQzrDp1z3d78UeiXx8K3z4s3ILIOkqumwWiXYAdnsM53Lv2+LoTlRL64cmZ+dhq/m2VrkJOWJbmPMOcJaNC8jHDkcgCmef0cnjnuL77c/14b+OE81wIhjEHycuiFHzygjfm8AAYPlnR0xakgdrhYEp3Lgnym5+sfhbU19Bu90B7jmBbg/siuu7n2+upXjQDqOXgWC5UvQlwe/Z29xoBjvbi9AaM2zwAthZgvzVWhyjBYfQ+uP0PBe3awCQb5QWX5TjDIocim8icff514ECKT7UxWIEgZztq6AtcAr44x/6MKBkTBWQyo07LkjzDye4O+5WU5osV5akAVCSkQEk/pXE84jxJy2zyuQdmKL1tdx7dOtuAwAuocctNg0QkrD6rf+N+sV7/Dt9gGsmCEAAA&quot;"/>
    <we:property name="creatorSessionId" value="&quot;4a7a4e1b-ef19-4fd1-82ce-19201365ea35&quot;"/>
    <we:property name="creatorTenantId" value="&quot;5b973f99-77df-4beb-b27d-aa0c70b8482c&quot;"/>
    <we:property name="creatorUserId" value="&quot;100320061CA161E8&quot;"/>
    <we:property name="datasetId" value="&quot;52044b5d-f1af-4efa-aaae-5b473d67f25f&quot;"/>
    <we:property name="embedUrl" value="&quot;/reportEmbed?reportId=966ae8ed-dda4-4716-ac8e-46b8a5641cfe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initialStateBookmark" value="&quot;H4sIAAAAAAAAA91XUW/bNhD+K4Ze+uINkizLUt5c1wGCzolRr9mAITCO4slhK4sCSTnxAv+k/Yr9sR4pOcs8N/a6uUv3IkjH4/H77uMdqQePC10VsL6EJXpn3mspPy5BfewEXtcrW9vV1dvJ8N3b+eVwMiazrIyQpfbOHjwDaoHmWugaChuBjL/cdL1KoUa1wku8a8boKZgohFl7Z0bV2PWgKKawsBNyKDQZKlRallCIX7GZoxvXTdfD+6qQCuyqMwMG7corcqdvghd83yNQkBmxwhlmprH2WYTAch8wQAx9TLO+ddONgwO/14XsuSgMRbevbD2+rxSRetgmI+a+jxGLeIIsjPu9NEoHFNesKzs6InQLqUQGBRmbQDbO9RZt2PXOlVy6iG3Kc/Icl8blxjuvi6LDwQAZf3Qx/Q0l9KdbVOgmjWTJRcPxwbtwTwsRtW5oOZeiXu6M2K+ZrFWG7zD/48Mtv6EUT5UkARyEC1ogAy4VDdDS11DUTleK/IMgPkTNMrJm8n51tbKmojPLpMJXds7Nhh6NbE9WPwrVnjw8g67r3cq7kUJKOvfOgk33UaUUMA0jFic95AjoR/2+//9Sye70YyWaT5AL6DRTUJ9epEdwuwrZFVeuuilDBkTZ1lmY+1EUcp5Hgc/zkOSK4fOl2Mo45CsoMwq8y2K4WChcwDb/41NQbJJrjed12TadYJew7whrUS6Ktqm51uXemn3jZaB4O0SdlX2gzFm6NE0qjur12jF+I9S2s9HeHL8UtkSPTD0WsZylbBBQL82TCJPwmT66twb/yS7kYjmfgtC7mKfw+2/6L3vwCEl0ITJqCE/l8JZIB519cdmxPKpmJYHNuORuGB3N/WX4hmZweVfa+iMMQl+U1DsJ1QyLRt3J4Sj2SLTzXeHr7cQ9iLSh5JqZI9oscCCyO4fb0BZfc6JSQj88OTMfW82/rdKNy0kUhwmLMYmCXspZP8JeFjsyz+ll8N4wef/n+rHR+gFjSZZF6DPgLE/zjA1e8MbsngDDZyt6VANXUBrsjOjOxYF/917LZ0F9C+32CLQTBF0rPBbRvPXX85FcVh0oeWfIl6LcBbg/e4d7TQaG9uLoFpTZPQD2FmC7NdanKMGu97ML+x8K2rSBQdxLUsbzfoxpAmk84En05deBEyk+kkphARkFO1BDX+ES8NU5tmdEHkVZCjGPqdNGQRLj4HCH/UZK88WK8lQAKhJSIKefUt/vMRaEeTz40gPTld6+O4+sja4gwymUuOemQSISVpvV4+4X7hdAsOJvXHXs4xM9qMc4qxAAAA==&quot;"/>
    <we:property name="isFiltersActionButtonVisible" value="true"/>
    <we:property name="isVisualContainerHeaderHidden" value="false"/>
    <we:property name="pageDisplayName" value="&quot;P3&quot;"/>
    <we:property name="pageName" value="&quot;5b4eabf0ae1ee20e9c53&quot;"/>
    <we:property name="reportEmbeddedTime" value="&quot;2026-10-05T15:09:32.289Z&quot;"/>
    <we:property name="reportName" value="&quot;Proyecto final 2025&quot;"/>
    <we:property name="reportState" value="&quot;CONNECTED&quot;"/>
    <we:property name="reportUrl" value="&quot;/groups/me/reports/966ae8ed-dda4-4716-ac8e-46b8a5641cfe/5b4eabf0ae1ee20e9c53?experience=power-bi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1383</Words>
  <Application>Microsoft Office PowerPoint</Application>
  <PresentationFormat>On-screen Show (16:9)</PresentationFormat>
  <Paragraphs>248</Paragraphs>
  <Slides>15</Slides>
  <Notes>15</Notes>
  <HiddenSlides>2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EYInterstate</vt:lpstr>
      <vt:lpstr>Office Theme</vt:lpstr>
      <vt:lpstr>thinkcell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Administracion_Digital_UE_EY_v2</dc:title>
  <dc:subject>PptxGenJS Presentation</dc:subject>
  <dc:creator>Laia Perez Blazquez</dc:creator>
  <cp:lastModifiedBy>Mariona Floris Martin</cp:lastModifiedBy>
  <cp:revision>2</cp:revision>
  <dcterms:created xsi:type="dcterms:W3CDTF">2026-10-05T11:32:34Z</dcterms:created>
  <dcterms:modified xsi:type="dcterms:W3CDTF">2026-10-07T21:20:19Z</dcterms:modified>
</cp:coreProperties>
</file>